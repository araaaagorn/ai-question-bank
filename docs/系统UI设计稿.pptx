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549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8288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AI+题库智能教学平台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BFDBFE"/>
                </a:solidFill>
              </a:defRPr>
            </a:pPr>
            <a:r>
              <a:t>系统 UI 设计稿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1148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3C5FD"/>
                </a:solidFill>
              </a:defRPr>
            </a:pPr>
            <a:r>
              <a:t>Web 端界面设计 | 纯 HTML/CSS/JS 实现 | 零构建工具链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53035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0A5FA"/>
                </a:solidFill>
              </a:defRPr>
            </a:pPr>
            <a:r>
              <a:t>版本 v1.0 | 2026年10月10日 | 前端：曹渲东、王英杰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0"/>
          </a:xfrm>
          <a:prstGeom prst="roundRect">
            <a:avLst/>
          </a:prstGeom>
          <a:solidFill>
            <a:srgbClr val="2F5496"/>
          </a:solidFill>
          <a:ln w="12700">
            <a:solidFill>
              <a:srgbClr val="2F54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</a:defRPr>
            </a:pPr>
            <a:r>
              <a:t>设计系统 / Design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CA3AF"/>
                </a:solidFill>
              </a:defRPr>
            </a:pPr>
            <a:r>
              <a:t>AI+题库智能教学平台 | UI设计稿 v1.0 | 2026.10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D2A3A"/>
                </a:solidFill>
              </a:defRPr>
            </a:pPr>
            <a:r>
              <a:t>色彩系统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63040"/>
            <a:ext cx="1280160" cy="731520"/>
          </a:xfrm>
          <a:prstGeom prst="roundRect">
            <a:avLst/>
          </a:prstGeom>
          <a:solidFill>
            <a:srgbClr val="2F5496"/>
          </a:solidFill>
          <a:ln w="12700">
            <a:solidFill>
              <a:srgbClr val="2F54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24028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D2A3A"/>
                </a:solidFill>
              </a:defRPr>
            </a:pPr>
            <a:r>
              <a:t>主色 Blue #2F5496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20240" y="1463040"/>
            <a:ext cx="1280160" cy="731520"/>
          </a:xfrm>
          <a:prstGeom prst="roundRect">
            <a:avLst/>
          </a:prstGeom>
          <a:solidFill>
            <a:srgbClr val="4472C4"/>
          </a:solidFill>
          <a:ln w="1270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20240" y="224028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D2A3A"/>
                </a:solidFill>
              </a:defRPr>
            </a:pPr>
            <a:r>
              <a:t>辅色 Accent #4472C4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463040"/>
            <a:ext cx="1280160" cy="731520"/>
          </a:xfrm>
          <a:prstGeom prst="roundRect">
            <a:avLst/>
          </a:prstGeom>
          <a:solidFill>
            <a:srgbClr val="22C55E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224028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D2A3A"/>
                </a:solidFill>
              </a:defRPr>
            </a:pPr>
            <a:r>
              <a:t>成功 Green #22C55E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560320"/>
            <a:ext cx="1280160" cy="73152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33756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D2A3A"/>
                </a:solidFill>
              </a:defRPr>
            </a:pPr>
            <a:r>
              <a:t>警告 Orange #F59E0B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920240" y="2560320"/>
            <a:ext cx="1280160" cy="73152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F5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20240" y="333756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D2A3A"/>
                </a:solidFill>
              </a:defRPr>
            </a:pPr>
            <a:r>
              <a:t>背景 Light #F5F7FA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83280" y="2560320"/>
            <a:ext cx="1280160" cy="731520"/>
          </a:xfrm>
          <a:prstGeom prst="roundRect">
            <a:avLst/>
          </a:prstGeom>
          <a:solidFill>
            <a:srgbClr val="1D2A3A"/>
          </a:solidFill>
          <a:ln w="12700">
            <a:solidFill>
              <a:srgbClr val="1D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83280" y="333756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D2A3A"/>
                </a:solidFill>
              </a:defRPr>
            </a:pPr>
            <a:r>
              <a:t>文字 Dark #1D2A3A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10058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D2A3A"/>
                </a:solidFill>
              </a:defRPr>
            </a:pPr>
            <a:r>
              <a:t>字体层级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14630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D2A3A"/>
                </a:solidFill>
              </a:defRPr>
            </a:pPr>
            <a:r>
              <a:t>H1 页面标题  28pt  Bold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2011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D2A3A"/>
                </a:solidFill>
              </a:defRPr>
            </a:pPr>
            <a:r>
              <a:t>H2 区块标题  20pt  Bold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25603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D2A3A"/>
                </a:solidFill>
              </a:defRPr>
            </a:pPr>
            <a:r>
              <a:t>H3 卡片标题  16pt  Bold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31089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D2A3A"/>
                </a:solidFill>
              </a:defRPr>
            </a:pPr>
            <a:r>
              <a:t>Body 正文  14pt  Regular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3657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D2A3A"/>
                </a:solidFill>
              </a:defRPr>
            </a:pPr>
            <a:r>
              <a:t>Small 辅助文字  12pt  Regular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840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D2A3A"/>
                </a:solidFill>
              </a:defRPr>
            </a:pPr>
            <a:r>
              <a:t>组件库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389120"/>
            <a:ext cx="1371600" cy="36576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主按钮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011680" y="4389120"/>
            <a:ext cx="1371600" cy="365760"/>
          </a:xfrm>
          <a:prstGeom prst="round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次要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66160" y="4389120"/>
            <a:ext cx="1371600" cy="36576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危险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029200"/>
            <a:ext cx="274320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50749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输入框 placeholder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14800" y="4389120"/>
            <a:ext cx="32004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97680" y="448056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D2A3A"/>
                </a:solidFill>
              </a:defRPr>
            </a:pPr>
            <a:r>
              <a:t>Card 卡片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0" y="480060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卡片描述文字...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97680" y="5303520"/>
            <a:ext cx="914400" cy="32004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操作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46720" y="4389120"/>
            <a:ext cx="36576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0" y="443484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D2A3A"/>
                </a:solidFill>
              </a:defRPr>
            </a:pPr>
            <a:r>
              <a:t>Table 表格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0" y="4754880"/>
            <a:ext cx="1005840" cy="32004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326880" y="4754880"/>
            <a:ext cx="1005840" cy="32004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0424160" y="4754880"/>
            <a:ext cx="1005840" cy="32004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229600" y="5120640"/>
            <a:ext cx="100584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326880" y="5120640"/>
            <a:ext cx="100584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0424160" y="5120640"/>
            <a:ext cx="100584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229600" y="5486400"/>
            <a:ext cx="100584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9326880" y="5486400"/>
            <a:ext cx="100584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10424160" y="5486400"/>
            <a:ext cx="100584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0"/>
          </a:xfrm>
          <a:prstGeom prst="roundRect">
            <a:avLst/>
          </a:prstGeom>
          <a:solidFill>
            <a:srgbClr val="2F5496"/>
          </a:solidFill>
          <a:ln w="12700">
            <a:solidFill>
              <a:srgbClr val="2F54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</a:defRPr>
            </a:pPr>
            <a:r>
              <a:t>登录页 / Login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CA3AF"/>
                </a:solidFill>
              </a:defRPr>
            </a:pPr>
            <a:r>
              <a:t>AI+题库智能教学平台 | UI设计稿 v1.0 | 2026.10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路由: GET /  →  未认证时展示登录表单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0" y="1371600"/>
            <a:ext cx="393192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6459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F5496"/>
                </a:solidFill>
              </a:defRPr>
            </a:pPr>
            <a:r>
              <a:t>AI+题库智能教学平台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10312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CA3AF"/>
                </a:solidFill>
              </a:defRPr>
            </a:pPr>
            <a:r>
              <a:t>欢迎回来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651760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D2A3A"/>
                </a:solidFill>
              </a:defRPr>
            </a:pPr>
            <a:r>
              <a:t>用户名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880360"/>
            <a:ext cx="301752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60" y="29260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admin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474720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D2A3A"/>
                </a:solidFill>
              </a:defRPr>
            </a:pPr>
            <a:r>
              <a:t>密码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0" y="3703320"/>
            <a:ext cx="301752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09160" y="3749039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••••••••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4389120"/>
            <a:ext cx="3017520" cy="457200"/>
          </a:xfrm>
          <a:prstGeom prst="round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登  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182880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设计要点:</a:t>
            </a:r>
            <a:br/>
            <a:r>
              <a:t>• 居中卡片式布局</a:t>
            </a:r>
            <a:br/>
            <a:r>
              <a:t>• 蓝白配色，简洁专业</a:t>
            </a:r>
            <a:br/>
            <a:r>
              <a:t>• 表单验证前端即时反馈</a:t>
            </a:r>
            <a:br/>
            <a:r>
              <a:t>• 登录失败统一提示</a:t>
            </a:r>
            <a:br/>
            <a:r>
              <a:t>  不区分用户名/密码错误</a:t>
            </a:r>
            <a:br/>
            <a:r>
              <a:t>• Demo 账号提示区域</a:t>
            </a:r>
            <a:br/>
            <a:r>
              <a:t>  (admin/teacher/student)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0"/>
          </a:xfrm>
          <a:prstGeom prst="roundRect">
            <a:avLst/>
          </a:prstGeom>
          <a:solidFill>
            <a:srgbClr val="2F5496"/>
          </a:solidFill>
          <a:ln w="12700">
            <a:solidFill>
              <a:srgbClr val="2F54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</a:defRPr>
            </a:pPr>
            <a:r>
              <a:t>首页仪表盘 /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CA3AF"/>
                </a:solidFill>
              </a:defRPr>
            </a:pPr>
            <a:r>
              <a:t>AI+题库智能教学平台 | UI设计稿 v1.0 | 2026.10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0" y="731520"/>
            <a:ext cx="2286000" cy="6126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3716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📊 仪表盘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874519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📝 题库管理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3774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📋 试卷管理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28803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💬 AI 对话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33832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👥 学生管理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3886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⚙️ 系统设置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0" y="1005840"/>
            <a:ext cx="2011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80360" y="109728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题库总数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141732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4472C4"/>
                </a:solidFill>
              </a:defRPr>
            </a:pPr>
            <a:r>
              <a:t>128 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1005840"/>
            <a:ext cx="2011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66360" y="109728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试卷数量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66360" y="141732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2C55E"/>
                </a:solidFill>
              </a:defRPr>
            </a:pPr>
            <a:r>
              <a:t>15 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0" y="1005840"/>
            <a:ext cx="2011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52360" y="109728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AI 调用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2360" y="141732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59E0B"/>
                </a:solidFill>
              </a:defRPr>
            </a:pPr>
            <a:r>
              <a:t>2,340 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1005840"/>
            <a:ext cx="2011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38360" y="109728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活跃学生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38360" y="141732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8B5CF6"/>
                </a:solidFill>
              </a:defRPr>
            </a:pPr>
            <a:r>
              <a:t>45 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0" y="24688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D2A3A"/>
                </a:solidFill>
              </a:defRPr>
            </a:pPr>
            <a:r>
              <a:t>最近活动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0" y="2926080"/>
            <a:ext cx="6400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26080" y="30632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</a:defRPr>
            </a:pPr>
            <a:r>
              <a:t>2026-10-10 14:30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46320" y="30632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D2A3A"/>
                </a:solidFill>
              </a:defRPr>
            </a:pPr>
            <a:r>
              <a:t>学生 李同学 提交了题目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0" y="30632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72C4"/>
                </a:solidFill>
              </a:defRPr>
            </a:pPr>
            <a:r>
              <a:t>高等数学-积分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80" y="35661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</a:defRPr>
            </a:pPr>
            <a:r>
              <a:t>2026-10-10 13:15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46320" y="35661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D2A3A"/>
                </a:solidFill>
              </a:defRPr>
            </a:pPr>
            <a:r>
              <a:t>AI 完成解答 #1024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0" y="3566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72C4"/>
                </a:solidFill>
              </a:defRPr>
            </a:pPr>
            <a:r>
              <a:t>线性代数-矩阵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26080" y="4069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</a:defRPr>
            </a:pPr>
            <a:r>
              <a:t>2026-10-10 11:00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46320" y="40690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D2A3A"/>
                </a:solidFill>
              </a:defRPr>
            </a:pPr>
            <a:r>
              <a:t>教师 张老师 创建试卷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0" y="40690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72C4"/>
                </a:solidFill>
              </a:defRPr>
            </a:pPr>
            <a:r>
              <a:t>期中考试卷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26080" y="45720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</a:defRPr>
            </a:pPr>
            <a:r>
              <a:t>2026-10-10 09:30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46320" y="45720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D2A3A"/>
                </a:solidFill>
              </a:defRPr>
            </a:pPr>
            <a:r>
              <a:t>管理员 更新了系统配置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63840" y="45720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72C4"/>
                </a:solidFill>
              </a:defRPr>
            </a:pPr>
            <a:r>
              <a:t>API 额度调整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0" y="10058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D2A3A"/>
                </a:solidFill>
              </a:defRPr>
            </a:pPr>
            <a:r>
              <a:t>快捷操作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601200" y="1554480"/>
            <a:ext cx="210312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+ 新建题目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601200" y="2194560"/>
            <a:ext cx="2103120" cy="457200"/>
          </a:xfrm>
          <a:prstGeom prst="round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📋 创建试卷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601200" y="2834639"/>
            <a:ext cx="2103120" cy="457200"/>
          </a:xfrm>
          <a:prstGeom prst="round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🤖 AI 问答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601200" y="3474720"/>
            <a:ext cx="2103120" cy="457200"/>
          </a:xfrm>
          <a:prstGeom prst="round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📊 导出报告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0"/>
          </a:xfrm>
          <a:prstGeom prst="roundRect">
            <a:avLst/>
          </a:prstGeom>
          <a:solidFill>
            <a:srgbClr val="2F5496"/>
          </a:solidFill>
          <a:ln w="12700">
            <a:solidFill>
              <a:srgbClr val="2F54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</a:defRPr>
            </a:pPr>
            <a:r>
              <a:t>题库管理 / Question Bank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CA3AF"/>
                </a:solidFill>
              </a:defRPr>
            </a:pPr>
            <a:r>
              <a:t>AI+题库智能教学平台 | UI设计稿 v1.0 | 2026.10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05840"/>
            <a:ext cx="1124712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0972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D2A3A"/>
                </a:solidFill>
              </a:defRPr>
            </a:pPr>
            <a:r>
              <a:t>筛选: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1097280"/>
            <a:ext cx="914400" cy="36576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全部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68880" y="1097280"/>
            <a:ext cx="91440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60320" y="114300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D2A3A"/>
                </a:solidFill>
              </a:defRPr>
            </a:pPr>
            <a:r>
              <a:t>单选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1097280"/>
            <a:ext cx="91440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0" y="114300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D2A3A"/>
                </a:solidFill>
              </a:defRPr>
            </a:pPr>
            <a:r>
              <a:t>多选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1097280"/>
            <a:ext cx="91440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79" y="114300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D2A3A"/>
                </a:solidFill>
              </a:defRPr>
            </a:pPr>
            <a:r>
              <a:t>填空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60720" y="1097280"/>
            <a:ext cx="91440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59" y="114300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D2A3A"/>
                </a:solidFill>
              </a:defRPr>
            </a:pPr>
            <a:r>
              <a:t>简答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0" y="1097280"/>
            <a:ext cx="91440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9440" y="114300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D2A3A"/>
                </a:solidFill>
              </a:defRPr>
            </a:pPr>
            <a:r>
              <a:t>编程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058400" y="1097280"/>
            <a:ext cx="1371600" cy="365760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+ 新建题目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1920240"/>
            <a:ext cx="640080" cy="3657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1938528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D2A3A"/>
                </a:solidFill>
              </a:defRPr>
            </a:pPr>
            <a:r>
              <a:t>ID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" y="1920240"/>
            <a:ext cx="5029200" cy="3657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193852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D2A3A"/>
                </a:solidFill>
              </a:defRPr>
            </a:pPr>
            <a:r>
              <a:t>题目标题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26480" y="1920240"/>
            <a:ext cx="914400" cy="3657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72200" y="193852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D2A3A"/>
                </a:solidFill>
              </a:defRPr>
            </a:pPr>
            <a:r>
              <a:t>题型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40880" y="1920240"/>
            <a:ext cx="731520" cy="3657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86600" y="193852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D2A3A"/>
                </a:solidFill>
              </a:defRPr>
            </a:pPr>
            <a:r>
              <a:t>难度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0" y="1920240"/>
            <a:ext cx="731520" cy="3657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18120" y="193852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D2A3A"/>
                </a:solidFill>
              </a:defRPr>
            </a:pPr>
            <a:r>
              <a:t>状态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503920" y="1920240"/>
            <a:ext cx="1645920" cy="3657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49640" y="193852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D2A3A"/>
                </a:solidFill>
              </a:defRPr>
            </a:pPr>
            <a:r>
              <a:t>操作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2331720"/>
            <a:ext cx="64008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2350008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D2A3A"/>
                </a:solidFill>
              </a:defRPr>
            </a:pPr>
            <a:r>
              <a:t>001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97280" y="2331720"/>
            <a:ext cx="502920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235000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D2A3A"/>
                </a:solidFill>
              </a:defRPr>
            </a:pPr>
            <a:r>
              <a:t>计算定积分 ∫₀¹ x² dx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26480" y="2331720"/>
            <a:ext cx="91440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72200" y="235000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D2A3A"/>
                </a:solidFill>
              </a:defRPr>
            </a:pPr>
            <a:r>
              <a:t>简答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040880" y="2331720"/>
            <a:ext cx="73152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86600" y="235000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D2A3A"/>
                </a:solidFill>
              </a:defRPr>
            </a:pPr>
            <a:r>
              <a:t>★★☆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772400" y="2331720"/>
            <a:ext cx="73152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18120" y="235000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2C55E"/>
                </a:solidFill>
              </a:defRPr>
            </a:pPr>
            <a:r>
              <a:t>已发布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503920" y="2331720"/>
            <a:ext cx="164592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418320" y="2359152"/>
            <a:ext cx="640080" cy="292608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编辑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149840" y="2359152"/>
            <a:ext cx="640080" cy="292608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AI解答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2743200"/>
            <a:ext cx="640080" cy="365760"/>
          </a:xfrm>
          <a:prstGeom prst="roundRect">
            <a:avLst/>
          </a:prstGeom>
          <a:solidFill>
            <a:srgbClr val="FAFBFC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2761488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D2A3A"/>
                </a:solidFill>
              </a:defRPr>
            </a:pPr>
            <a:r>
              <a:t>002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97280" y="2743200"/>
            <a:ext cx="5029200" cy="365760"/>
          </a:xfrm>
          <a:prstGeom prst="roundRect">
            <a:avLst/>
          </a:prstGeom>
          <a:solidFill>
            <a:srgbClr val="FAFBFC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43000" y="276148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D2A3A"/>
                </a:solidFill>
              </a:defRPr>
            </a:pPr>
            <a:r>
              <a:t>以下哪个是线性方程组的解?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26480" y="2743200"/>
            <a:ext cx="914400" cy="365760"/>
          </a:xfrm>
          <a:prstGeom prst="roundRect">
            <a:avLst/>
          </a:prstGeom>
          <a:solidFill>
            <a:srgbClr val="FAFBFC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72200" y="27614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D2A3A"/>
                </a:solidFill>
              </a:defRPr>
            </a:pPr>
            <a:r>
              <a:t>单选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040880" y="2743200"/>
            <a:ext cx="731520" cy="365760"/>
          </a:xfrm>
          <a:prstGeom prst="roundRect">
            <a:avLst/>
          </a:prstGeom>
          <a:solidFill>
            <a:srgbClr val="FAFBFC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086600" y="27614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D2A3A"/>
                </a:solidFill>
              </a:defRPr>
            </a:pPr>
            <a:r>
              <a:t>★★★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772400" y="2743200"/>
            <a:ext cx="731520" cy="365760"/>
          </a:xfrm>
          <a:prstGeom prst="roundRect">
            <a:avLst/>
          </a:prstGeom>
          <a:solidFill>
            <a:srgbClr val="FAFBFC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818120" y="27614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2C55E"/>
                </a:solidFill>
              </a:defRPr>
            </a:pPr>
            <a:r>
              <a:t>已发布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503920" y="2743200"/>
            <a:ext cx="1645920" cy="365760"/>
          </a:xfrm>
          <a:prstGeom prst="roundRect">
            <a:avLst/>
          </a:prstGeom>
          <a:solidFill>
            <a:srgbClr val="FAFBFC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9418320" y="2770632"/>
            <a:ext cx="640080" cy="292608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编辑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149840" y="2770632"/>
            <a:ext cx="640080" cy="292608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AI解答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3154679"/>
            <a:ext cx="64008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02920" y="3172967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D2A3A"/>
                </a:solidFill>
              </a:defRPr>
            </a:pPr>
            <a:r>
              <a:t>003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097280" y="3154679"/>
            <a:ext cx="502920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143000" y="3172967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D2A3A"/>
                </a:solidFill>
              </a:defRPr>
            </a:pPr>
            <a:r>
              <a:t>解释冒泡排序的时间复杂度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126480" y="3154679"/>
            <a:ext cx="91440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172200" y="3172967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D2A3A"/>
                </a:solidFill>
              </a:defRPr>
            </a:pPr>
            <a:r>
              <a:t>简答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040880" y="3154679"/>
            <a:ext cx="73152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086600" y="3172967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D2A3A"/>
                </a:solidFill>
              </a:defRPr>
            </a:pPr>
            <a:r>
              <a:t>★★☆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772400" y="3154679"/>
            <a:ext cx="73152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818120" y="3172967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2C55E"/>
                </a:solidFill>
              </a:defRPr>
            </a:pPr>
            <a:r>
              <a:t>审核中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503920" y="3154679"/>
            <a:ext cx="164592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9418320" y="3182111"/>
            <a:ext cx="640080" cy="292608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编辑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0149840" y="3182111"/>
            <a:ext cx="640080" cy="292608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AI解答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57200" y="3566160"/>
            <a:ext cx="640080" cy="365760"/>
          </a:xfrm>
          <a:prstGeom prst="roundRect">
            <a:avLst/>
          </a:prstGeom>
          <a:solidFill>
            <a:srgbClr val="FAFBFC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2920" y="3584448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D2A3A"/>
                </a:solidFill>
              </a:defRPr>
            </a:pPr>
            <a:r>
              <a:t>004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097280" y="3566160"/>
            <a:ext cx="5029200" cy="365760"/>
          </a:xfrm>
          <a:prstGeom prst="roundRect">
            <a:avLst/>
          </a:prstGeom>
          <a:solidFill>
            <a:srgbClr val="FAFBFC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143000" y="358444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D2A3A"/>
                </a:solidFill>
              </a:defRPr>
            </a:pPr>
            <a:r>
              <a:t>补全以下 Python 代码实现快速排序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126480" y="3566160"/>
            <a:ext cx="914400" cy="365760"/>
          </a:xfrm>
          <a:prstGeom prst="roundRect">
            <a:avLst/>
          </a:prstGeom>
          <a:solidFill>
            <a:srgbClr val="FAFBFC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172200" y="358444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D2A3A"/>
                </a:solidFill>
              </a:defRPr>
            </a:pPr>
            <a:r>
              <a:t>编程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7040880" y="3566160"/>
            <a:ext cx="731520" cy="365760"/>
          </a:xfrm>
          <a:prstGeom prst="roundRect">
            <a:avLst/>
          </a:prstGeom>
          <a:solidFill>
            <a:srgbClr val="FAFBFC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086600" y="358444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D2A3A"/>
                </a:solidFill>
              </a:defRPr>
            </a:pPr>
            <a:r>
              <a:t>★★★★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7772400" y="3566160"/>
            <a:ext cx="731520" cy="365760"/>
          </a:xfrm>
          <a:prstGeom prst="roundRect">
            <a:avLst/>
          </a:prstGeom>
          <a:solidFill>
            <a:srgbClr val="FAFBFC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818120" y="358444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2C55E"/>
                </a:solidFill>
              </a:defRPr>
            </a:pPr>
            <a:r>
              <a:t>已发布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503920" y="3566160"/>
            <a:ext cx="1645920" cy="365760"/>
          </a:xfrm>
          <a:prstGeom prst="roundRect">
            <a:avLst/>
          </a:prstGeom>
          <a:solidFill>
            <a:srgbClr val="FAFBFC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9418320" y="3593592"/>
            <a:ext cx="640080" cy="292608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编辑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0149840" y="3593592"/>
            <a:ext cx="640080" cy="292608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AI解答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457200" y="3977639"/>
            <a:ext cx="64008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02920" y="3995927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D2A3A"/>
                </a:solidFill>
              </a:defRPr>
            </a:pPr>
            <a:r>
              <a:t>005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097280" y="3977639"/>
            <a:ext cx="502920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143000" y="3995927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D2A3A"/>
                </a:solidFill>
              </a:defRPr>
            </a:pPr>
            <a:r>
              <a:t>判断: 所有质数都是奇数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126480" y="3977639"/>
            <a:ext cx="91440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172200" y="3995927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D2A3A"/>
                </a:solidFill>
              </a:defRPr>
            </a:pPr>
            <a:r>
              <a:t>判断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7040880" y="3977639"/>
            <a:ext cx="73152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086600" y="3995927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D2A3A"/>
                </a:solidFill>
              </a:defRPr>
            </a:pPr>
            <a:r>
              <a:t>★☆☆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7772400" y="3977639"/>
            <a:ext cx="73152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7818120" y="3995927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2C55E"/>
                </a:solidFill>
              </a:defRPr>
            </a:pPr>
            <a:r>
              <a:t>已发布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8503920" y="3977639"/>
            <a:ext cx="164592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9418320" y="4005071"/>
            <a:ext cx="640080" cy="292608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编辑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10149840" y="4005071"/>
            <a:ext cx="640080" cy="292608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AI解答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572000" y="53035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CA3AF"/>
                </a:solidFill>
              </a:defRPr>
            </a:pPr>
            <a:r>
              <a:t>第 1/26 页  共 128 条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0"/>
          </a:xfrm>
          <a:prstGeom prst="roundRect">
            <a:avLst/>
          </a:prstGeom>
          <a:solidFill>
            <a:srgbClr val="2F5496"/>
          </a:solidFill>
          <a:ln w="12700">
            <a:solidFill>
              <a:srgbClr val="2F54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</a:defRPr>
            </a:pPr>
            <a:r>
              <a:t>题目详情 + AI 解答 / Question Detail +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CA3AF"/>
                </a:solidFill>
              </a:defRPr>
            </a:pPr>
            <a:r>
              <a:t>AI+题库智能教学平台 | UI设计稿 v1.0 | 2026.10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D2A3A"/>
                </a:solidFill>
              </a:defRPr>
            </a:pPr>
            <a:r>
              <a:t>题目 #001  计算定积分 ∫₀¹ x² dx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</a:defRPr>
            </a:pPr>
            <a:r>
              <a:t>题型: 简答 | 难度: ★★☆ | 标签: 高等数学, 积分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737360"/>
            <a:ext cx="530352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4937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D2A3A"/>
                </a:solidFill>
              </a:defRPr>
            </a:pPr>
            <a:r>
              <a:t>题目内容:</a:t>
            </a:r>
            <a:br/>
            <a:r>
              <a:t>计算定积分 ∫₀¹ x² dx，要求写出详细步骤。</a:t>
            </a:r>
            <a:br/>
            <a:br/>
            <a:r>
              <a:t>标准答案: 1/3</a:t>
            </a:r>
            <a:br/>
            <a:r>
              <a:t>解析: 使用牛顿-莱布尼茨公式,</a:t>
            </a:r>
            <a:br/>
            <a:r>
              <a:t>∫x²dx = x³/3, 代入上下限得 1/3 - 0 = 1/3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0058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2C55E"/>
                </a:solidFill>
              </a:defRPr>
            </a:pPr>
            <a:r>
              <a:t>🤖 AI 官方解答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37160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</a:defRPr>
            </a:pPr>
            <a:r>
              <a:t>模型: gpt-4o-mini | 生成时间: 2026-10-10 14:30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737360"/>
            <a:ext cx="5303520" cy="29260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828800"/>
            <a:ext cx="4937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D2A3A"/>
                </a:solidFill>
              </a:defRPr>
            </a:pPr>
            <a:r>
              <a:t>【解题步骤】</a:t>
            </a:r>
            <a:br/>
            <a:br/>
            <a:r>
              <a:t>1. 确定原函数: ∫x² dx = (1/3)x³ + C</a:t>
            </a:r>
            <a:br/>
            <a:br/>
            <a:r>
              <a:t>2. 应用牛顿-莱布尼茨公式:</a:t>
            </a:r>
            <a:br/>
            <a:r>
              <a:t>   ∫₀¹ x² dx = [x³/3]₀¹</a:t>
            </a:r>
            <a:br/>
            <a:br/>
            <a:r>
              <a:t>3. 代入上下限:</a:t>
            </a:r>
            <a:br/>
            <a:r>
              <a:t>   = (1³/3) - (0³/3)</a:t>
            </a:r>
            <a:br/>
            <a:r>
              <a:t>   = 1/3 - 0</a:t>
            </a:r>
            <a:br/>
            <a:r>
              <a:t>   = 1/3</a:t>
            </a:r>
            <a:br/>
            <a:br/>
            <a:r>
              <a:t>【结论】定积分的值为 1/3 ≈ 0.3333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875520" y="4846320"/>
            <a:ext cx="1645920" cy="365760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💬 继续追问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4747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D2A3A"/>
                </a:solidFill>
              </a:defRPr>
            </a:pPr>
            <a:r>
              <a:t>对话分支树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931920"/>
            <a:ext cx="112471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114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2C55E"/>
                </a:solidFill>
              </a:defRPr>
            </a:pPr>
            <a:r>
              <a:t>🤖 AI 官方解答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4348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59E0B"/>
                </a:solidFill>
              </a:defRPr>
            </a:pPr>
            <a:r>
              <a:t>├─ 👤 追问: 为什么原函数是 x³/3?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47548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2C55E"/>
                </a:solidFill>
              </a:defRPr>
            </a:pPr>
            <a:r>
              <a:t>│  └─ 🤖 因为幂函数积分公式 ∫xⁿdx = xⁿ⁺¹/(n+1)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0749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59E0B"/>
                </a:solidFill>
              </a:defRPr>
            </a:pPr>
            <a:r>
              <a:t>├─ 👤 有没有其他解法?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3949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72C4"/>
                </a:solidFill>
              </a:defRPr>
            </a:pPr>
            <a:r>
              <a:t>📌 推荐答案: AI 官方解答 (教师标记)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0"/>
          </a:xfrm>
          <a:prstGeom prst="roundRect">
            <a:avLst/>
          </a:prstGeom>
          <a:solidFill>
            <a:srgbClr val="2F5496"/>
          </a:solidFill>
          <a:ln w="12700">
            <a:solidFill>
              <a:srgbClr val="2F54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</a:defRPr>
            </a:pPr>
            <a:r>
              <a:t>试卷管理 / Exam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CA3AF"/>
                </a:solidFill>
              </a:defRPr>
            </a:pPr>
            <a:r>
              <a:t>AI+题库智能教学平台 | UI设计稿 v1.0 | 2026.10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0" y="1005840"/>
            <a:ext cx="1371600" cy="411480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+ 新建试卷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D2A3A"/>
                </a:solidFill>
              </a:defRPr>
            </a:pPr>
            <a:r>
              <a:t>试卷列表 (共15套)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103120"/>
            <a:ext cx="457200" cy="3657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21408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D2A3A"/>
                </a:solidFill>
              </a:defRPr>
            </a:pPr>
            <a:r>
              <a:t>ID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103120"/>
            <a:ext cx="3657600" cy="3657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121408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D2A3A"/>
                </a:solidFill>
              </a:defRPr>
            </a:pPr>
            <a:r>
              <a:t>试卷名称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0" y="2103120"/>
            <a:ext cx="914400" cy="3657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212140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D2A3A"/>
                </a:solidFill>
              </a:defRPr>
            </a:pPr>
            <a:r>
              <a:t>题目数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0" y="2103120"/>
            <a:ext cx="731520" cy="3657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32120" y="212140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D2A3A"/>
                </a:solidFill>
              </a:defRPr>
            </a:pPr>
            <a:r>
              <a:t>总分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2103120"/>
            <a:ext cx="1828800" cy="3657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212140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D2A3A"/>
                </a:solidFill>
              </a:defRPr>
            </a:pPr>
            <a:r>
              <a:t>创建时间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2103120"/>
            <a:ext cx="914400" cy="3657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92440" y="212140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D2A3A"/>
                </a:solidFill>
              </a:defRPr>
            </a:pPr>
            <a:r>
              <a:t>状态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61120" y="2103120"/>
            <a:ext cx="2286000" cy="3657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06840" y="2121408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D2A3A"/>
                </a:solidFill>
              </a:defRPr>
            </a:pPr>
            <a:r>
              <a:t>操作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514600"/>
            <a:ext cx="45720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2532888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D2A3A"/>
                </a:solidFill>
              </a:defRPr>
            </a:pPr>
            <a:r>
              <a:t>E01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" y="2514600"/>
            <a:ext cx="365760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2532888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D2A3A"/>
                </a:solidFill>
              </a:defRPr>
            </a:pPr>
            <a:r>
              <a:t>高等数学期中考试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0" y="2514600"/>
            <a:ext cx="91440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17720" y="25328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D2A3A"/>
                </a:solidFill>
              </a:defRPr>
            </a:pPr>
            <a:r>
              <a:t>20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0" y="2514600"/>
            <a:ext cx="73152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32120" y="25328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D2A3A"/>
                </a:solidFill>
              </a:defRPr>
            </a:pPr>
            <a:r>
              <a:t>100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2514600"/>
            <a:ext cx="182880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63640" y="253288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D2A3A"/>
                </a:solidFill>
              </a:defRPr>
            </a:pPr>
            <a:r>
              <a:t>2026-10-08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46720" y="2514600"/>
            <a:ext cx="91440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92440" y="25328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2C55E"/>
                </a:solidFill>
              </a:defRPr>
            </a:pPr>
            <a:r>
              <a:t>已发布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961120" y="2514600"/>
            <a:ext cx="228600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595360" y="2542032"/>
            <a:ext cx="640080" cy="292608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预览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326880" y="2542032"/>
            <a:ext cx="640080" cy="292608"/>
          </a:xfrm>
          <a:prstGeom prst="round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编辑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058400" y="2542032"/>
            <a:ext cx="822960" cy="292608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导出PDF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2926080"/>
            <a:ext cx="457200" cy="365760"/>
          </a:xfrm>
          <a:prstGeom prst="roundRect">
            <a:avLst/>
          </a:prstGeom>
          <a:solidFill>
            <a:srgbClr val="FAFBFC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2944368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D2A3A"/>
                </a:solidFill>
              </a:defRPr>
            </a:pPr>
            <a:r>
              <a:t>E02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" y="2926080"/>
            <a:ext cx="3657600" cy="365760"/>
          </a:xfrm>
          <a:prstGeom prst="roundRect">
            <a:avLst/>
          </a:prstGeom>
          <a:solidFill>
            <a:srgbClr val="FAFBFC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60120" y="2944368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D2A3A"/>
                </a:solidFill>
              </a:defRPr>
            </a:pPr>
            <a:r>
              <a:t>线性代数期末试卷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0" y="2926080"/>
            <a:ext cx="914400" cy="365760"/>
          </a:xfrm>
          <a:prstGeom prst="roundRect">
            <a:avLst/>
          </a:prstGeom>
          <a:solidFill>
            <a:srgbClr val="FAFBFC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17720" y="294436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D2A3A"/>
                </a:solidFill>
              </a:defRPr>
            </a:pPr>
            <a:r>
              <a:t>15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486400" y="2926080"/>
            <a:ext cx="731520" cy="365760"/>
          </a:xfrm>
          <a:prstGeom prst="roundRect">
            <a:avLst/>
          </a:prstGeom>
          <a:solidFill>
            <a:srgbClr val="FAFBFC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532120" y="294436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D2A3A"/>
                </a:solidFill>
              </a:defRPr>
            </a:pPr>
            <a:r>
              <a:t>100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17920" y="2926080"/>
            <a:ext cx="1828800" cy="365760"/>
          </a:xfrm>
          <a:prstGeom prst="roundRect">
            <a:avLst/>
          </a:prstGeom>
          <a:solidFill>
            <a:srgbClr val="FAFBFC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63640" y="294436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D2A3A"/>
                </a:solidFill>
              </a:defRPr>
            </a:pPr>
            <a:r>
              <a:t>2026-10-05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046720" y="2926080"/>
            <a:ext cx="914400" cy="365760"/>
          </a:xfrm>
          <a:prstGeom prst="roundRect">
            <a:avLst/>
          </a:prstGeom>
          <a:solidFill>
            <a:srgbClr val="FAFBFC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92440" y="294436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2C55E"/>
                </a:solidFill>
              </a:defRPr>
            </a:pPr>
            <a:r>
              <a:t>已发布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961120" y="2926080"/>
            <a:ext cx="2286000" cy="365760"/>
          </a:xfrm>
          <a:prstGeom prst="roundRect">
            <a:avLst/>
          </a:prstGeom>
          <a:solidFill>
            <a:srgbClr val="FAFBFC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595360" y="2953512"/>
            <a:ext cx="640080" cy="292608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预览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326880" y="2953512"/>
            <a:ext cx="640080" cy="292608"/>
          </a:xfrm>
          <a:prstGeom prst="round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编辑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058400" y="2953512"/>
            <a:ext cx="822960" cy="292608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导出PDF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3337560"/>
            <a:ext cx="45720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02920" y="3355848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D2A3A"/>
                </a:solidFill>
              </a:defRPr>
            </a:pPr>
            <a:r>
              <a:t>E03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14400" y="3337560"/>
            <a:ext cx="365760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60120" y="3355848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D2A3A"/>
                </a:solidFill>
              </a:defRPr>
            </a:pPr>
            <a:r>
              <a:t>C语言编程测验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0" y="3337560"/>
            <a:ext cx="91440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617720" y="335584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D2A3A"/>
                </a:solidFill>
              </a:defRPr>
            </a:pPr>
            <a:r>
              <a:t>10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486400" y="3337560"/>
            <a:ext cx="73152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532120" y="335584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D2A3A"/>
                </a:solidFill>
              </a:defRPr>
            </a:pPr>
            <a:r>
              <a:t>50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217920" y="3337560"/>
            <a:ext cx="182880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263640" y="335584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D2A3A"/>
                </a:solidFill>
              </a:defRPr>
            </a:pPr>
            <a:r>
              <a:t>2026-10-03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046720" y="3337560"/>
            <a:ext cx="91440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092440" y="335584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59E0B"/>
                </a:solidFill>
              </a:defRPr>
            </a:pPr>
            <a:r>
              <a:t>草稿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961120" y="3337560"/>
            <a:ext cx="228600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8595360" y="3364992"/>
            <a:ext cx="640080" cy="292608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预览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326880" y="3364992"/>
            <a:ext cx="640080" cy="292608"/>
          </a:xfrm>
          <a:prstGeom prst="round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编辑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0058400" y="3364992"/>
            <a:ext cx="822960" cy="292608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导出PDF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57200" y="3749039"/>
            <a:ext cx="457200" cy="365760"/>
          </a:xfrm>
          <a:prstGeom prst="roundRect">
            <a:avLst/>
          </a:prstGeom>
          <a:solidFill>
            <a:srgbClr val="FAFBFC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02920" y="3767327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D2A3A"/>
                </a:solidFill>
              </a:defRPr>
            </a:pPr>
            <a:r>
              <a:t>E04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14400" y="3749039"/>
            <a:ext cx="3657600" cy="365760"/>
          </a:xfrm>
          <a:prstGeom prst="roundRect">
            <a:avLst/>
          </a:prstGeom>
          <a:solidFill>
            <a:srgbClr val="FAFBFC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60120" y="3767327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D2A3A"/>
                </a:solidFill>
              </a:defRPr>
            </a:pPr>
            <a:r>
              <a:t>概率论章节练习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572000" y="3749039"/>
            <a:ext cx="914400" cy="365760"/>
          </a:xfrm>
          <a:prstGeom prst="roundRect">
            <a:avLst/>
          </a:prstGeom>
          <a:solidFill>
            <a:srgbClr val="FAFBFC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617720" y="3767327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D2A3A"/>
                </a:solidFill>
              </a:defRPr>
            </a:pPr>
            <a:r>
              <a:t>8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486400" y="3749039"/>
            <a:ext cx="731520" cy="365760"/>
          </a:xfrm>
          <a:prstGeom prst="roundRect">
            <a:avLst/>
          </a:prstGeom>
          <a:solidFill>
            <a:srgbClr val="FAFBFC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532120" y="3767327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D2A3A"/>
                </a:solidFill>
              </a:defRPr>
            </a:pPr>
            <a:r>
              <a:t>40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217920" y="3749039"/>
            <a:ext cx="1828800" cy="365760"/>
          </a:xfrm>
          <a:prstGeom prst="roundRect">
            <a:avLst/>
          </a:prstGeom>
          <a:solidFill>
            <a:srgbClr val="FAFBFC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63640" y="3767327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D2A3A"/>
                </a:solidFill>
              </a:defRPr>
            </a:pPr>
            <a:r>
              <a:t>2026-10-01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046720" y="3749039"/>
            <a:ext cx="914400" cy="365760"/>
          </a:xfrm>
          <a:prstGeom prst="roundRect">
            <a:avLst/>
          </a:prstGeom>
          <a:solidFill>
            <a:srgbClr val="FAFBFC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092440" y="3767327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2C55E"/>
                </a:solidFill>
              </a:defRPr>
            </a:pPr>
            <a:r>
              <a:t>已发布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8961120" y="3749039"/>
            <a:ext cx="2286000" cy="365760"/>
          </a:xfrm>
          <a:prstGeom prst="roundRect">
            <a:avLst/>
          </a:prstGeom>
          <a:solidFill>
            <a:srgbClr val="FAFBFC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8595360" y="3776471"/>
            <a:ext cx="640080" cy="292608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预览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9326880" y="3776471"/>
            <a:ext cx="640080" cy="292608"/>
          </a:xfrm>
          <a:prstGeom prst="round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编辑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0058400" y="3776471"/>
            <a:ext cx="822960" cy="292608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导出PDF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57200" y="43891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D2A3A"/>
                </a:solidFill>
              </a:defRPr>
            </a:pPr>
            <a:r>
              <a:t>试卷编辑视图 (E01 高等数学期中考试)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57200" y="4846320"/>
            <a:ext cx="5029200" cy="1280160"/>
          </a:xfrm>
          <a:prstGeom prst="rect">
            <a:avLst/>
          </a:prstGeom>
          <a:solidFill>
            <a:srgbClr val="FAFAFA"/>
          </a:solidFill>
          <a:ln w="12700">
            <a:solidFill>
              <a:srgbClr val="D1D5DB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02920" y="4864608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CA3AF"/>
                </a:solidFill>
              </a:defRPr>
            </a:pPr>
            <a:r>
              <a:t>[题库选择区: 拖拽或搜索题目添加到试卷]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943600" y="4846320"/>
            <a:ext cx="5760720" cy="1280160"/>
          </a:xfrm>
          <a:prstGeom prst="rect">
            <a:avLst/>
          </a:prstGeom>
          <a:solidFill>
            <a:srgbClr val="FAFAFA"/>
          </a:solidFill>
          <a:ln w="12700">
            <a:solidFill>
              <a:srgbClr val="D1D5DB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989320" y="4864608"/>
            <a:ext cx="5669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CA3AF"/>
                </a:solidFill>
              </a:defRPr>
            </a:pPr>
            <a:r>
              <a:t>[试卷构建区: 已选题目列表 (支持拖拽排序、设置分值)]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0"/>
          </a:xfrm>
          <a:prstGeom prst="roundRect">
            <a:avLst/>
          </a:prstGeom>
          <a:solidFill>
            <a:srgbClr val="2F5496"/>
          </a:solidFill>
          <a:ln w="12700">
            <a:solidFill>
              <a:srgbClr val="2F54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</a:defRPr>
            </a:pPr>
            <a:r>
              <a:t>管理后台 / Admin Panel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CA3AF"/>
                </a:solidFill>
              </a:defRPr>
            </a:pPr>
            <a:r>
              <a:t>AI+题库智能教学平台 | UI设计稿 v1.0 | 2026.10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05840"/>
            <a:ext cx="2011680" cy="36576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用户管理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1005840"/>
            <a:ext cx="2011680" cy="365760"/>
          </a:xfrm>
          <a:prstGeom prst="round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API配置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0" y="1005840"/>
            <a:ext cx="2011680" cy="365760"/>
          </a:xfrm>
          <a:prstGeom prst="round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审计日志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40879" y="1005840"/>
            <a:ext cx="2011680" cy="365760"/>
          </a:xfrm>
          <a:prstGeom prst="round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系统监控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235440" y="1005840"/>
            <a:ext cx="2011680" cy="365760"/>
          </a:xfrm>
          <a:prstGeom prst="round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数据备份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6459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D2A3A"/>
                </a:solidFill>
              </a:defRPr>
            </a:pPr>
            <a:r>
              <a:t>用户列表 (3个角色: admin/teacher/student)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103120"/>
            <a:ext cx="457200" cy="3657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121408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D2A3A"/>
                </a:solidFill>
              </a:defRPr>
            </a:pPr>
            <a:r>
              <a:t>ID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2103120"/>
            <a:ext cx="1371600" cy="3657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12140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D2A3A"/>
                </a:solidFill>
              </a:defRPr>
            </a:pPr>
            <a:r>
              <a:t>用户名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86000" y="2103120"/>
            <a:ext cx="1371600" cy="3657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31720" y="212140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D2A3A"/>
                </a:solidFill>
              </a:defRPr>
            </a:pPr>
            <a:r>
              <a:t>姓名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0" y="2103120"/>
            <a:ext cx="914400" cy="3657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03320" y="212140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D2A3A"/>
                </a:solidFill>
              </a:defRPr>
            </a:pPr>
            <a:r>
              <a:t>角色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0" y="2103120"/>
            <a:ext cx="1828800" cy="3657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17720" y="212140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D2A3A"/>
                </a:solidFill>
              </a:defRPr>
            </a:pPr>
            <a:r>
              <a:t>邮箱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0" y="2103120"/>
            <a:ext cx="731520" cy="3657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212140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D2A3A"/>
                </a:solidFill>
              </a:defRPr>
            </a:pPr>
            <a:r>
              <a:t>状态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0" y="2103120"/>
            <a:ext cx="1645920" cy="3657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78040" y="212140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D2A3A"/>
                </a:solidFill>
              </a:defRPr>
            </a:pPr>
            <a:r>
              <a:t>创建时间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778240" y="2103120"/>
            <a:ext cx="1828800" cy="3657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23960" y="212140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D2A3A"/>
                </a:solidFill>
              </a:defRPr>
            </a:pPr>
            <a:r>
              <a:t>操作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2514600"/>
            <a:ext cx="45720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2532888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D2A3A"/>
                </a:solidFill>
              </a:defRPr>
            </a:pPr>
            <a:r>
              <a:t>1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4400" y="2514600"/>
            <a:ext cx="137160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0120" y="253288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D2A3A"/>
                </a:solidFill>
              </a:defRPr>
            </a:pPr>
            <a:r>
              <a:t>admin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286000" y="2514600"/>
            <a:ext cx="137160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331720" y="253288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D2A3A"/>
                </a:solidFill>
              </a:defRPr>
            </a:pPr>
            <a:r>
              <a:t>系统管理员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657600" y="2514600"/>
            <a:ext cx="91440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703320" y="25328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D2A3A"/>
                </a:solidFill>
              </a:defRPr>
            </a:pPr>
            <a:r>
              <a:t>管理员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0" y="2514600"/>
            <a:ext cx="182880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17720" y="253288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D2A3A"/>
                </a:solidFill>
              </a:defRPr>
            </a:pPr>
            <a:r>
              <a:t>admin@school.edu.cn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00800" y="2514600"/>
            <a:ext cx="73152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46520" y="25328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2C55E"/>
                </a:solidFill>
              </a:defRPr>
            </a:pPr>
            <a:r>
              <a:t>活跃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132320" y="2514600"/>
            <a:ext cx="164592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78040" y="253288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2C55E"/>
                </a:solidFill>
              </a:defRPr>
            </a:pPr>
            <a:r>
              <a:t>2026-09-01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778240" y="2514600"/>
            <a:ext cx="182880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503920" y="2542032"/>
            <a:ext cx="640080" cy="292608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编辑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235440" y="2542032"/>
            <a:ext cx="822960" cy="292608"/>
          </a:xfrm>
          <a:prstGeom prst="round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重置密码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2926080"/>
            <a:ext cx="457200" cy="365760"/>
          </a:xfrm>
          <a:prstGeom prst="roundRect">
            <a:avLst/>
          </a:prstGeom>
          <a:solidFill>
            <a:srgbClr val="FAFBFC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2944368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D2A3A"/>
                </a:solidFill>
              </a:defRPr>
            </a:pPr>
            <a:r>
              <a:t>2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4400" y="2926080"/>
            <a:ext cx="1371600" cy="365760"/>
          </a:xfrm>
          <a:prstGeom prst="roundRect">
            <a:avLst/>
          </a:prstGeom>
          <a:solidFill>
            <a:srgbClr val="FAFBFC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60120" y="294436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D2A3A"/>
                </a:solidFill>
              </a:defRPr>
            </a:pPr>
            <a:r>
              <a:t>teacher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286000" y="2926080"/>
            <a:ext cx="1371600" cy="365760"/>
          </a:xfrm>
          <a:prstGeom prst="roundRect">
            <a:avLst/>
          </a:prstGeom>
          <a:solidFill>
            <a:srgbClr val="FAFBFC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331720" y="294436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D2A3A"/>
                </a:solidFill>
              </a:defRPr>
            </a:pPr>
            <a:r>
              <a:t>张老师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657600" y="2926080"/>
            <a:ext cx="914400" cy="365760"/>
          </a:xfrm>
          <a:prstGeom prst="roundRect">
            <a:avLst/>
          </a:prstGeom>
          <a:solidFill>
            <a:srgbClr val="FAFBFC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703320" y="294436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D2A3A"/>
                </a:solidFill>
              </a:defRPr>
            </a:pPr>
            <a:r>
              <a:t>教师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572000" y="2926080"/>
            <a:ext cx="1828800" cy="365760"/>
          </a:xfrm>
          <a:prstGeom prst="roundRect">
            <a:avLst/>
          </a:prstGeom>
          <a:solidFill>
            <a:srgbClr val="FAFBFC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617720" y="294436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D2A3A"/>
                </a:solidFill>
              </a:defRPr>
            </a:pPr>
            <a:r>
              <a:t>zhang@school.edu.cn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400800" y="2926080"/>
            <a:ext cx="731520" cy="365760"/>
          </a:xfrm>
          <a:prstGeom prst="roundRect">
            <a:avLst/>
          </a:prstGeom>
          <a:solidFill>
            <a:srgbClr val="FAFBFC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46520" y="294436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2C55E"/>
                </a:solidFill>
              </a:defRPr>
            </a:pPr>
            <a:r>
              <a:t>活跃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132320" y="2926080"/>
            <a:ext cx="1645920" cy="365760"/>
          </a:xfrm>
          <a:prstGeom prst="roundRect">
            <a:avLst/>
          </a:prstGeom>
          <a:solidFill>
            <a:srgbClr val="FAFBFC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178040" y="294436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2C55E"/>
                </a:solidFill>
              </a:defRPr>
            </a:pPr>
            <a:r>
              <a:t>2026-09-01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778240" y="2926080"/>
            <a:ext cx="1828800" cy="365760"/>
          </a:xfrm>
          <a:prstGeom prst="roundRect">
            <a:avLst/>
          </a:prstGeom>
          <a:solidFill>
            <a:srgbClr val="FAFBFC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8503920" y="2953512"/>
            <a:ext cx="640080" cy="292608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编辑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235440" y="2953512"/>
            <a:ext cx="822960" cy="292608"/>
          </a:xfrm>
          <a:prstGeom prst="round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重置密码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57200" y="3337560"/>
            <a:ext cx="45720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02920" y="3355848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D2A3A"/>
                </a:solidFill>
              </a:defRPr>
            </a:pPr>
            <a:r>
              <a:t>3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14400" y="3337560"/>
            <a:ext cx="137160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60120" y="335584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D2A3A"/>
                </a:solidFill>
              </a:defRPr>
            </a:pPr>
            <a:r>
              <a:t>student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286000" y="3337560"/>
            <a:ext cx="137160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331720" y="335584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D2A3A"/>
                </a:solidFill>
              </a:defRPr>
            </a:pPr>
            <a:r>
              <a:t>李同学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3657600" y="3337560"/>
            <a:ext cx="91440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703320" y="335584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D2A3A"/>
                </a:solidFill>
              </a:defRPr>
            </a:pPr>
            <a:r>
              <a:t>学生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572000" y="3337560"/>
            <a:ext cx="182880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617720" y="335584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D2A3A"/>
                </a:solidFill>
              </a:defRPr>
            </a:pPr>
            <a:r>
              <a:t>li@school.edu.cn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400800" y="3337560"/>
            <a:ext cx="73152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446520" y="335584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2C55E"/>
                </a:solidFill>
              </a:defRPr>
            </a:pPr>
            <a:r>
              <a:t>活跃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7132320" y="3337560"/>
            <a:ext cx="164592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178040" y="335584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2C55E"/>
                </a:solidFill>
              </a:defRPr>
            </a:pPr>
            <a:r>
              <a:t>2026-09-01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778240" y="3337560"/>
            <a:ext cx="182880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8503920" y="3364992"/>
            <a:ext cx="640080" cy="292608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编辑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235440" y="3364992"/>
            <a:ext cx="822960" cy="292608"/>
          </a:xfrm>
          <a:prstGeom prst="round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重置密码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57200" y="3749039"/>
            <a:ext cx="457200" cy="365760"/>
          </a:xfrm>
          <a:prstGeom prst="roundRect">
            <a:avLst/>
          </a:prstGeom>
          <a:solidFill>
            <a:srgbClr val="FAFBFC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02920" y="3767327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D2A3A"/>
                </a:solidFill>
              </a:defRPr>
            </a:pPr>
            <a:r>
              <a:t>4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14400" y="3749039"/>
            <a:ext cx="1371600" cy="365760"/>
          </a:xfrm>
          <a:prstGeom prst="roundRect">
            <a:avLst/>
          </a:prstGeom>
          <a:solidFill>
            <a:srgbClr val="FAFBFC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60120" y="3767327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D2A3A"/>
                </a:solidFill>
              </a:defRPr>
            </a:pPr>
            <a:r>
              <a:t>student2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2286000" y="3749039"/>
            <a:ext cx="1371600" cy="365760"/>
          </a:xfrm>
          <a:prstGeom prst="roundRect">
            <a:avLst/>
          </a:prstGeom>
          <a:solidFill>
            <a:srgbClr val="FAFBFC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2331720" y="3767327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D2A3A"/>
                </a:solidFill>
              </a:defRPr>
            </a:pPr>
            <a:r>
              <a:t>王同学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657600" y="3749039"/>
            <a:ext cx="914400" cy="365760"/>
          </a:xfrm>
          <a:prstGeom prst="roundRect">
            <a:avLst/>
          </a:prstGeom>
          <a:solidFill>
            <a:srgbClr val="FAFBFC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703320" y="3767327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D2A3A"/>
                </a:solidFill>
              </a:defRPr>
            </a:pPr>
            <a:r>
              <a:t>学生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572000" y="3749039"/>
            <a:ext cx="1828800" cy="365760"/>
          </a:xfrm>
          <a:prstGeom prst="roundRect">
            <a:avLst/>
          </a:prstGeom>
          <a:solidFill>
            <a:srgbClr val="FAFBFC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617720" y="3767327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D2A3A"/>
                </a:solidFill>
              </a:defRPr>
            </a:pPr>
            <a:r>
              <a:t>wang@school.edu.cn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6400800" y="3749039"/>
            <a:ext cx="731520" cy="365760"/>
          </a:xfrm>
          <a:prstGeom prst="roundRect">
            <a:avLst/>
          </a:prstGeom>
          <a:solidFill>
            <a:srgbClr val="FAFBFC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446520" y="3767327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4444"/>
                </a:solidFill>
              </a:defRPr>
            </a:pPr>
            <a:r>
              <a:t>已禁用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7132320" y="3749039"/>
            <a:ext cx="1645920" cy="365760"/>
          </a:xfrm>
          <a:prstGeom prst="roundRect">
            <a:avLst/>
          </a:prstGeom>
          <a:solidFill>
            <a:srgbClr val="FAFBFC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78040" y="3767327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4444"/>
                </a:solidFill>
              </a:defRPr>
            </a:pPr>
            <a:r>
              <a:t>2026-09-05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8778240" y="3749039"/>
            <a:ext cx="1828800" cy="365760"/>
          </a:xfrm>
          <a:prstGeom prst="roundRect">
            <a:avLst/>
          </a:prstGeom>
          <a:solidFill>
            <a:srgbClr val="FAFBFC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8503920" y="3776471"/>
            <a:ext cx="640080" cy="292608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编辑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9235440" y="3776471"/>
            <a:ext cx="822960" cy="292608"/>
          </a:xfrm>
          <a:prstGeom prst="round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重置密码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57200" y="43891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D2A3A"/>
                </a:solidFill>
              </a:defRPr>
            </a:pPr>
            <a:r>
              <a:t>审计日志 (最近20条)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57200" y="4846320"/>
            <a:ext cx="11247120" cy="1371600"/>
          </a:xfrm>
          <a:prstGeom prst="rect">
            <a:avLst/>
          </a:prstGeom>
          <a:solidFill>
            <a:srgbClr val="FAFAFA"/>
          </a:solidFill>
          <a:ln w="12700">
            <a:solidFill>
              <a:srgbClr val="D1D5DB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02920" y="4864608"/>
            <a:ext cx="11155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CA3AF"/>
                </a:solidFill>
              </a:defRPr>
            </a:pPr>
            <a:r>
              <a:t>[时间 | 用户 | 操作类型 | 详情 | IP地址 | 结果</a:t>
            </a:r>
            <a:br/>
            <a:r>
              <a:t>10-10 14:30 | student | AI_CALL | 题目#001 AI解答 | 192.168.1.100 | 成功</a:t>
            </a:r>
            <a:br/>
            <a:r>
              <a:t>10-10 13:15 | teacher | CREATE_EXAM | 创建试卷 E05 | 192.168.1.50 | 成功</a:t>
            </a:r>
            <a:br/>
            <a:r>
              <a:t>10-10 11:00 | admin | UPDATE_CONFIG | 修改API额度 | 192.168.1.1 | 成功</a:t>
            </a:r>
            <a:br/>
            <a:r>
              <a:t>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0"/>
          </a:xfrm>
          <a:prstGeom prst="roundRect">
            <a:avLst/>
          </a:prstGeom>
          <a:solidFill>
            <a:srgbClr val="2F5496"/>
          </a:solidFill>
          <a:ln w="12700">
            <a:solidFill>
              <a:srgbClr val="2F54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</a:defRPr>
            </a:pPr>
            <a:r>
              <a:t>响应式设计 &amp; 移动端适配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CA3AF"/>
                </a:solidFill>
              </a:defRPr>
            </a:pPr>
            <a:r>
              <a:t>AI+题库智能教学平台 | UI设计稿 v1.0 | 2026.10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D2A3A"/>
                </a:solidFill>
              </a:defRPr>
            </a:pPr>
            <a:r>
              <a:t>适配策略: 纯 CSS Media Query | 主流断点: 768px (平板) / 480px (手机)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D2A3A"/>
                </a:solidFill>
              </a:defRPr>
            </a:pPr>
            <a:r>
              <a:t>桌面端 (≥1024px)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011680"/>
            <a:ext cx="5029200" cy="3200400"/>
          </a:xfrm>
          <a:prstGeom prst="rect">
            <a:avLst/>
          </a:prstGeom>
          <a:solidFill>
            <a:srgbClr val="FAFAFA"/>
          </a:solidFill>
          <a:ln w="12700">
            <a:solidFill>
              <a:srgbClr val="D1D5DB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029968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CA3AF"/>
                </a:solidFill>
              </a:defRPr>
            </a:pPr>
            <a:r>
              <a:t>[侧边栏 + 主内容区 | 多列表格 | 卡片网格 | 完整功能]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6459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D2A3A"/>
                </a:solidFill>
              </a:defRPr>
            </a:pPr>
            <a:r>
              <a:t>平板端 (768-1023px)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011680"/>
            <a:ext cx="2743200" cy="3200400"/>
          </a:xfrm>
          <a:prstGeom prst="rect">
            <a:avLst/>
          </a:prstGeom>
          <a:solidFill>
            <a:srgbClr val="FAFAFA"/>
          </a:solidFill>
          <a:ln w="12700">
            <a:solidFill>
              <a:srgbClr val="D1D5DB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89320" y="2029968"/>
            <a:ext cx="2651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CA3AF"/>
                </a:solidFill>
              </a:defRPr>
            </a:pPr>
            <a:r>
              <a:t>[折叠侧边栏 | 双列表格 | 卡片堆叠 | 部分功能收折]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16459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D2A3A"/>
                </a:solidFill>
              </a:defRPr>
            </a:pPr>
            <a:r>
              <a:t>手机端 (&lt;768px)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0" y="2011680"/>
            <a:ext cx="2560320" cy="3200400"/>
          </a:xfrm>
          <a:prstGeom prst="rect">
            <a:avLst/>
          </a:prstGeom>
          <a:solidFill>
            <a:srgbClr val="FAFAFA"/>
          </a:solidFill>
          <a:ln w="12700">
            <a:solidFill>
              <a:srgbClr val="D1D5DB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89720" y="2029968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CA3AF"/>
                </a:solidFill>
              </a:defRPr>
            </a:pPr>
            <a:r>
              <a:t>[底部导航 | 单列布局 | 卡片全宽 | 核心功能]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486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D2A3A"/>
                </a:solidFill>
              </a:defRPr>
            </a:pPr>
            <a:r>
              <a:t>页面导航结构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852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472C4"/>
                </a:solidFill>
              </a:defRPr>
            </a:pPr>
            <a:r>
              <a:t>首页 → 题库列表 → 题目详情(+AI对话) → 试卷列表 → 试卷编辑 → 管理后台 → 个人中心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549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828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UI 设计稿总结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20040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</a:defRPr>
            </a:pPr>
            <a:r>
              <a:t>✅ 7 个核心页面设计: 登录 / 仪表盘 / 题库 / 题目详情+AI / 试卷 / 管理后台 / 响应式</a:t>
            </a:r>
            <a:br/>
            <a:br/>
            <a:r>
              <a:t>✅ 设计系统: 蓝白配色 | 3级字体层级 | 6个核心组件</a:t>
            </a:r>
            <a:br/>
            <a:br/>
            <a:r>
              <a:t>✅ 技术实现: 纯 HTML/CSS/JS | 零构建工具链 | C 后端静态托管</a:t>
            </a:r>
            <a:br/>
            <a:br/>
            <a:r>
              <a:t>✅ 响应式适配: 桌面/平板/手机三端覆盖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5760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3C5FD"/>
                </a:solidFill>
              </a:defRPr>
            </a:pPr>
            <a:r>
              <a:t>前端开发: 曹渲东、王英杰 | 设计参考: AI题库项目整体预期功能说明书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