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6" r:id="rId17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F549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1828800"/>
            <a:ext cx="9144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AI+题库智能教学平台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292608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BFDBFE"/>
                </a:solidFill>
              </a:defRPr>
            </a:pPr>
            <a:r>
              <a:t>系统 UI 设计稿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41148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93C5FD"/>
                </a:solidFill>
              </a:defRPr>
            </a:pPr>
            <a:r>
              <a:t>Web 端界面设计 | 纯 HTML/CSS/JS 实现 | 零构建工具链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530352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60A5FA"/>
                </a:solidFill>
              </a:defRPr>
            </a:pPr>
            <a:r>
              <a:t>版本 v1.1 | 2026年10月13日 | 前端：曹渲东、王英杰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731520"/>
          </a:xfrm>
          <a:prstGeom prst="roundRect">
            <a:avLst/>
          </a:prstGeom>
          <a:solidFill>
            <a:srgbClr val="2F5496"/>
          </a:solidFill>
          <a:ln w="12700">
            <a:solidFill>
              <a:srgbClr val="2F54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</a:defRPr>
            </a:pPr>
            <a:r>
              <a:t>设计系统 / Design System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3093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CA3AF"/>
                </a:solidFill>
              </a:defRPr>
            </a:pPr>
            <a:r>
              <a:t>AI+题库智能教学平台 | UI设计稿 v1.1 | 2026.10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058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D2A3A"/>
                </a:solidFill>
              </a:defRPr>
            </a:pPr>
            <a:r>
              <a:t>色彩系统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463040"/>
            <a:ext cx="1280160" cy="731520"/>
          </a:xfrm>
          <a:prstGeom prst="roundRect">
            <a:avLst/>
          </a:prstGeom>
          <a:solidFill>
            <a:srgbClr val="2F5496"/>
          </a:solidFill>
          <a:ln w="12700">
            <a:solidFill>
              <a:srgbClr val="2F54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2240280"/>
            <a:ext cx="1280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D2A3A"/>
                </a:solidFill>
              </a:defRPr>
            </a:pPr>
            <a:r>
              <a:t>主色 Blue #2F5496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920240" y="1463040"/>
            <a:ext cx="1280160" cy="731520"/>
          </a:xfrm>
          <a:prstGeom prst="roundRect">
            <a:avLst/>
          </a:prstGeom>
          <a:solidFill>
            <a:srgbClr val="4472C4"/>
          </a:solidFill>
          <a:ln w="12700"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920240" y="2240280"/>
            <a:ext cx="1280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D2A3A"/>
                </a:solidFill>
              </a:defRPr>
            </a:pPr>
            <a:r>
              <a:t>辅色 Accent #4472C4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383280" y="1463040"/>
            <a:ext cx="1280160" cy="731520"/>
          </a:xfrm>
          <a:prstGeom prst="roundRect">
            <a:avLst/>
          </a:prstGeom>
          <a:solidFill>
            <a:srgbClr val="22C55E"/>
          </a:solidFill>
          <a:ln w="1270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383280" y="2240280"/>
            <a:ext cx="1280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D2A3A"/>
                </a:solidFill>
              </a:defRPr>
            </a:pPr>
            <a:r>
              <a:t>成功 Green #22C55E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2560320"/>
            <a:ext cx="1280160" cy="731520"/>
          </a:xfrm>
          <a:prstGeom prst="roundRect">
            <a:avLst/>
          </a:prstGeom>
          <a:solidFill>
            <a:srgbClr val="F59E0B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" y="3337560"/>
            <a:ext cx="1280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D2A3A"/>
                </a:solidFill>
              </a:defRPr>
            </a:pPr>
            <a:r>
              <a:t>警告 Orange #F59E0B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920240" y="2560320"/>
            <a:ext cx="1280160" cy="731520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F5F7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920240" y="3337560"/>
            <a:ext cx="1280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D2A3A"/>
                </a:solidFill>
              </a:defRPr>
            </a:pPr>
            <a:r>
              <a:t>背景 Light #F5F7FA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383280" y="2560320"/>
            <a:ext cx="1280160" cy="731520"/>
          </a:xfrm>
          <a:prstGeom prst="roundRect">
            <a:avLst/>
          </a:prstGeom>
          <a:solidFill>
            <a:srgbClr val="1D2A3A"/>
          </a:solidFill>
          <a:ln w="12700">
            <a:solidFill>
              <a:srgbClr val="1D2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383280" y="3337560"/>
            <a:ext cx="1280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D2A3A"/>
                </a:solidFill>
              </a:defRPr>
            </a:pPr>
            <a:r>
              <a:t>文字 Dark #1D2A3A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0" y="100584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D2A3A"/>
                </a:solidFill>
              </a:defRPr>
            </a:pPr>
            <a:r>
              <a:t>字体层级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0" y="146304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D2A3A"/>
                </a:solidFill>
              </a:defRPr>
            </a:pPr>
            <a:r>
              <a:t>H1 页面标题  28pt  Bold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0" y="201168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D2A3A"/>
                </a:solidFill>
              </a:defRPr>
            </a:pPr>
            <a:r>
              <a:t>H2 区块标题  20pt  Bold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0" y="256032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D2A3A"/>
                </a:solidFill>
              </a:defRPr>
            </a:pPr>
            <a:r>
              <a:t>H3 卡片标题  16pt  Bold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0" y="310896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D2A3A"/>
                </a:solidFill>
              </a:defRPr>
            </a:pPr>
            <a:r>
              <a:t>Body 正文  14pt  Regular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0" y="365760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D2A3A"/>
                </a:solidFill>
              </a:defRPr>
            </a:pPr>
            <a:r>
              <a:t>Small 辅助文字  12pt  Regular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38404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D2A3A"/>
                </a:solidFill>
              </a:defRPr>
            </a:pPr>
            <a:r>
              <a:t>组件库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57200" y="4389120"/>
            <a:ext cx="1371600" cy="365760"/>
          </a:xfrm>
          <a:prstGeom prst="round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主按钮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2011680" y="4389120"/>
            <a:ext cx="1371600" cy="365760"/>
          </a:xfrm>
          <a:prstGeom prst="roundRect">
            <a:avLst/>
          </a:prstGeom>
          <a:solidFill>
            <a:srgbClr val="6B72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次要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3566160" y="4389120"/>
            <a:ext cx="1371600" cy="365760"/>
          </a:xfrm>
          <a:prstGeom prst="round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危险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57200" y="5029200"/>
            <a:ext cx="2743200" cy="411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9CA3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94360" y="5074920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CA3AF"/>
                </a:solidFill>
              </a:defRPr>
            </a:pPr>
            <a:r>
              <a:t>输入框 placeholder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114800" y="4389120"/>
            <a:ext cx="3200400" cy="1645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297680" y="4480560"/>
            <a:ext cx="2834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D2A3A"/>
                </a:solidFill>
              </a:defRPr>
            </a:pPr>
            <a:r>
              <a:t>Card 卡片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297680" y="4800600"/>
            <a:ext cx="2834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CA3AF"/>
                </a:solidFill>
              </a:defRPr>
            </a:pPr>
            <a:r>
              <a:t>卡片描述文字...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297680" y="5303520"/>
            <a:ext cx="914400" cy="320040"/>
          </a:xfrm>
          <a:prstGeom prst="round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操作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046720" y="4389120"/>
            <a:ext cx="3657600" cy="1645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229600" y="4434840"/>
            <a:ext cx="32918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D2A3A"/>
                </a:solidFill>
              </a:defRPr>
            </a:pPr>
            <a:r>
              <a:t>Table 表格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8229600" y="4754880"/>
            <a:ext cx="1005840" cy="320040"/>
          </a:xfrm>
          <a:prstGeom prst="roundRect">
            <a:avLst/>
          </a:prstGeom>
          <a:solidFill>
            <a:srgbClr val="EEF2FF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9326880" y="4754880"/>
            <a:ext cx="1005840" cy="320040"/>
          </a:xfrm>
          <a:prstGeom prst="roundRect">
            <a:avLst/>
          </a:prstGeom>
          <a:solidFill>
            <a:srgbClr val="EEF2FF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10424160" y="4754880"/>
            <a:ext cx="1005840" cy="320040"/>
          </a:xfrm>
          <a:prstGeom prst="roundRect">
            <a:avLst/>
          </a:prstGeom>
          <a:solidFill>
            <a:srgbClr val="EEF2FF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8229600" y="5120640"/>
            <a:ext cx="1005840" cy="320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9326880" y="5120640"/>
            <a:ext cx="1005840" cy="320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10424160" y="5120640"/>
            <a:ext cx="1005840" cy="320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ounded Rectangle 41"/>
          <p:cNvSpPr/>
          <p:nvPr/>
        </p:nvSpPr>
        <p:spPr>
          <a:xfrm>
            <a:off x="8229600" y="5486400"/>
            <a:ext cx="1005840" cy="320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ounded Rectangle 42"/>
          <p:cNvSpPr/>
          <p:nvPr/>
        </p:nvSpPr>
        <p:spPr>
          <a:xfrm>
            <a:off x="9326880" y="5486400"/>
            <a:ext cx="1005840" cy="320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ounded Rectangle 43"/>
          <p:cNvSpPr/>
          <p:nvPr/>
        </p:nvSpPr>
        <p:spPr>
          <a:xfrm>
            <a:off x="10424160" y="5486400"/>
            <a:ext cx="1005840" cy="320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2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731520"/>
          </a:xfrm>
          <a:prstGeom prst="roundRect">
            <a:avLst/>
          </a:prstGeom>
          <a:solidFill>
            <a:srgbClr val="2F5496"/>
          </a:solidFill>
          <a:ln w="12700">
            <a:solidFill>
              <a:srgbClr val="2F54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</a:defRPr>
            </a:pPr>
            <a:r>
              <a:t>登录页 / Login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3093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CA3AF"/>
                </a:solidFill>
              </a:defRPr>
            </a:pPr>
            <a:r>
              <a:t>AI+题库智能教学平台 | UI设计稿 v1.1 | 2026.10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CA3AF"/>
                </a:solidFill>
              </a:defRPr>
            </a:pPr>
            <a:r>
              <a:t>路由: GET /  →  未认证时展示登录表单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114800" y="1371600"/>
            <a:ext cx="3931920" cy="4114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0" y="164592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2F5496"/>
                </a:solidFill>
              </a:defRPr>
            </a:pPr>
            <a:r>
              <a:t>AI+题库智能教学平台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0" y="210312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9CA3AF"/>
                </a:solidFill>
              </a:defRPr>
            </a:pPr>
            <a:r>
              <a:t>欢迎回来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2651760"/>
            <a:ext cx="2743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D2A3A"/>
                </a:solidFill>
              </a:defRPr>
            </a:pPr>
            <a:r>
              <a:t>用户名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0" y="2880360"/>
            <a:ext cx="3017520" cy="411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9CA3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709160" y="292608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CA3AF"/>
                </a:solidFill>
              </a:defRPr>
            </a:pPr>
            <a:r>
              <a:t>admin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3474720"/>
            <a:ext cx="2743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D2A3A"/>
                </a:solidFill>
              </a:defRPr>
            </a:pPr>
            <a:r>
              <a:t>密码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0" y="3703320"/>
            <a:ext cx="3017520" cy="411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9CA3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709160" y="3749039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CA3AF"/>
                </a:solidFill>
              </a:defRPr>
            </a:pPr>
            <a:r>
              <a:t>••••••••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0" y="4389120"/>
            <a:ext cx="3017520" cy="457200"/>
          </a:xfrm>
          <a:prstGeom prst="roundRect">
            <a:avLst/>
          </a:prstGeom>
          <a:solidFill>
            <a:srgbClr val="2F54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登  录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1828800"/>
            <a:ext cx="2743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CA3AF"/>
                </a:solidFill>
              </a:defRPr>
            </a:pPr>
            <a:r>
              <a:t>设计要点:</a:t>
            </a:r>
            <a:br/>
            <a:r>
              <a:t>• 居中卡片式布局</a:t>
            </a:r>
            <a:br/>
            <a:r>
              <a:t>• 蓝白配色，简洁专业</a:t>
            </a:r>
            <a:br/>
            <a:r>
              <a:t>• 表单验证前端即时反馈</a:t>
            </a:r>
            <a:br/>
            <a:r>
              <a:t>• 登录失败统一提示</a:t>
            </a:r>
            <a:br/>
            <a:r>
              <a:t>  不区分用户名/密码错误</a:t>
            </a:r>
            <a:br/>
            <a:r>
              <a:t>• Demo 账号提示区域</a:t>
            </a:r>
            <a:br/>
            <a:r>
              <a:t>  (admin/teacher/student)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731520"/>
          </a:xfrm>
          <a:prstGeom prst="roundRect">
            <a:avLst/>
          </a:prstGeom>
          <a:solidFill>
            <a:srgbClr val="2F5496"/>
          </a:solidFill>
          <a:ln w="12700">
            <a:solidFill>
              <a:srgbClr val="2F54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</a:defRPr>
            </a:pPr>
            <a:r>
              <a:t>首页仪表盘 / Dashboard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3093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CA3AF"/>
                </a:solidFill>
              </a:defRPr>
            </a:pPr>
            <a:r>
              <a:t>AI+题库智能教学平台 | UI设计稿 v1.1 | 2026.10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0" y="731520"/>
            <a:ext cx="2286000" cy="61264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13716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</a:defRPr>
            </a:pPr>
            <a:r>
              <a:t>📊 仪表盘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1874519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CA3AF"/>
                </a:solidFill>
              </a:defRPr>
            </a:pPr>
            <a:r>
              <a:t>📝 题库管理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237744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CA3AF"/>
                </a:solidFill>
              </a:defRPr>
            </a:pPr>
            <a:r>
              <a:t>📋 试卷管理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" y="288036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CA3AF"/>
                </a:solidFill>
              </a:defRPr>
            </a:pPr>
            <a:r>
              <a:t>💬 AI 对话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" y="338328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CA3AF"/>
                </a:solidFill>
              </a:defRPr>
            </a:pPr>
            <a:r>
              <a:t>👥 学生管理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38862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CA3AF"/>
                </a:solidFill>
              </a:defRPr>
            </a:pPr>
            <a:r>
              <a:t>⚙️ 系统设置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743200" y="1005840"/>
            <a:ext cx="2011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880360" y="1097280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CA3AF"/>
                </a:solidFill>
              </a:defRPr>
            </a:pPr>
            <a:r>
              <a:t>题库总数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880360" y="1417320"/>
            <a:ext cx="1737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4472C4"/>
                </a:solidFill>
              </a:defRPr>
            </a:pPr>
            <a:r>
              <a:t>128 题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29200" y="1005840"/>
            <a:ext cx="2011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166360" y="1097280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CA3AF"/>
                </a:solidFill>
              </a:defRPr>
            </a:pPr>
            <a:r>
              <a:t>试卷数量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166360" y="1417320"/>
            <a:ext cx="1737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22C55E"/>
                </a:solidFill>
              </a:defRPr>
            </a:pPr>
            <a:r>
              <a:t>15 套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15200" y="1005840"/>
            <a:ext cx="2011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452360" y="1097280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CA3AF"/>
                </a:solidFill>
              </a:defRPr>
            </a:pPr>
            <a:r>
              <a:t>AI 调用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452360" y="1417320"/>
            <a:ext cx="1737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59E0B"/>
                </a:solidFill>
              </a:defRPr>
            </a:pPr>
            <a:r>
              <a:t>2,340 次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601200" y="1005840"/>
            <a:ext cx="2011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738360" y="1097280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CA3AF"/>
                </a:solidFill>
              </a:defRPr>
            </a:pPr>
            <a:r>
              <a:t>活跃学生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738360" y="1417320"/>
            <a:ext cx="1737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8B5CF6"/>
                </a:solidFill>
              </a:defRPr>
            </a:pPr>
            <a:r>
              <a:t>45 人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743200" y="246888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D2A3A"/>
                </a:solidFill>
              </a:defRPr>
            </a:pPr>
            <a:r>
              <a:t>最近活动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2743200" y="2926080"/>
            <a:ext cx="6400800" cy="2286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926080" y="306324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CA3AF"/>
                </a:solidFill>
              </a:defRPr>
            </a:pPr>
            <a:r>
              <a:t>2026-10-10 14:30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846320" y="306324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D2A3A"/>
                </a:solidFill>
              </a:defRPr>
            </a:pPr>
            <a:r>
              <a:t>学生 李同学 提交了题目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863840" y="306324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472C4"/>
                </a:solidFill>
              </a:defRPr>
            </a:pPr>
            <a:r>
              <a:t>高等数学-积分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926080" y="356616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CA3AF"/>
                </a:solidFill>
              </a:defRPr>
            </a:pPr>
            <a:r>
              <a:t>2026-10-10 13:15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846320" y="356616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D2A3A"/>
                </a:solidFill>
              </a:defRPr>
            </a:pPr>
            <a:r>
              <a:t>AI 完成解答 #1024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863840" y="3566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472C4"/>
                </a:solidFill>
              </a:defRPr>
            </a:pPr>
            <a:r>
              <a:t>线性代数-矩阵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926080" y="406908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CA3AF"/>
                </a:solidFill>
              </a:defRPr>
            </a:pPr>
            <a:r>
              <a:t>2026-10-10 11:00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846320" y="406908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D2A3A"/>
                </a:solidFill>
              </a:defRPr>
            </a:pPr>
            <a:r>
              <a:t>教师 张老师 创建试卷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863840" y="406908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472C4"/>
                </a:solidFill>
              </a:defRPr>
            </a:pPr>
            <a:r>
              <a:t>期中考试卷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926080" y="45720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CA3AF"/>
                </a:solidFill>
              </a:defRPr>
            </a:pPr>
            <a:r>
              <a:t>2026-10-10 09:30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846320" y="457200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D2A3A"/>
                </a:solidFill>
              </a:defRPr>
            </a:pPr>
            <a:r>
              <a:t>管理员 更新了系统配置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863840" y="457200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472C4"/>
                </a:solidFill>
              </a:defRPr>
            </a:pPr>
            <a:r>
              <a:t>API 额度调整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601200" y="100584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D2A3A"/>
                </a:solidFill>
              </a:defRPr>
            </a:pPr>
            <a:r>
              <a:t>快捷操作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9601200" y="1554480"/>
            <a:ext cx="2103120" cy="457200"/>
          </a:xfrm>
          <a:prstGeom prst="round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+ 新建题目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9601200" y="2194560"/>
            <a:ext cx="2103120" cy="457200"/>
          </a:xfrm>
          <a:prstGeom prst="roundRect">
            <a:avLst/>
          </a:prstGeom>
          <a:solidFill>
            <a:srgbClr val="6B72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📋 创建试卷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9601200" y="2834639"/>
            <a:ext cx="2103120" cy="457200"/>
          </a:xfrm>
          <a:prstGeom prst="roundRect">
            <a:avLst/>
          </a:prstGeom>
          <a:solidFill>
            <a:srgbClr val="6B72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🤖 AI 问答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9601200" y="3474720"/>
            <a:ext cx="2103120" cy="457200"/>
          </a:xfrm>
          <a:prstGeom prst="roundRect">
            <a:avLst/>
          </a:prstGeom>
          <a:solidFill>
            <a:srgbClr val="6B72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📊 导出报告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731520"/>
          </a:xfrm>
          <a:prstGeom prst="roundRect">
            <a:avLst/>
          </a:prstGeom>
          <a:solidFill>
            <a:srgbClr val="2F5496"/>
          </a:solidFill>
          <a:ln w="12700">
            <a:solidFill>
              <a:srgbClr val="2F54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</a:defRPr>
            </a:pPr>
            <a:r>
              <a:t>题库管理 / Question Bank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3093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CA3AF"/>
                </a:solidFill>
              </a:defRPr>
            </a:pPr>
            <a:r>
              <a:t>AI+题库智能教学平台 | UI设计稿 v1.1 | 2026.10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005840"/>
            <a:ext cx="11247120" cy="640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09728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D2A3A"/>
                </a:solidFill>
              </a:defRPr>
            </a:pPr>
            <a:r>
              <a:t>筛选: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371600" y="1097280"/>
            <a:ext cx="914400" cy="365760"/>
          </a:xfrm>
          <a:prstGeom prst="round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全部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468880" y="1097280"/>
            <a:ext cx="914400" cy="365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9CA3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560320" y="1143000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D2A3A"/>
                </a:solidFill>
              </a:defRPr>
            </a:pPr>
            <a:r>
              <a:t>单选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566160" y="1097280"/>
            <a:ext cx="914400" cy="365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9CA3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57600" y="1143000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D2A3A"/>
                </a:solidFill>
              </a:defRPr>
            </a:pPr>
            <a:r>
              <a:t>多选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663440" y="1097280"/>
            <a:ext cx="914400" cy="365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9CA3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754879" y="1143000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D2A3A"/>
                </a:solidFill>
              </a:defRPr>
            </a:pPr>
            <a:r>
              <a:t>填空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760720" y="1097280"/>
            <a:ext cx="914400" cy="365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9CA3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852159" y="1143000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D2A3A"/>
                </a:solidFill>
              </a:defRPr>
            </a:pPr>
            <a:r>
              <a:t>简答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858000" y="1097280"/>
            <a:ext cx="914400" cy="365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9CA3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949440" y="1143000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D2A3A"/>
                </a:solidFill>
              </a:defRPr>
            </a:pPr>
            <a:r>
              <a:t>编程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0058400" y="1097280"/>
            <a:ext cx="1371600" cy="365760"/>
          </a:xfrm>
          <a:prstGeom prst="round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+ 新建题目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7200" y="1920240"/>
            <a:ext cx="640080" cy="365760"/>
          </a:xfrm>
          <a:prstGeom prst="roundRect">
            <a:avLst/>
          </a:prstGeom>
          <a:solidFill>
            <a:srgbClr val="EEF2FF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2920" y="1938528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D2A3A"/>
                </a:solidFill>
              </a:defRPr>
            </a:pPr>
            <a:r>
              <a:t>ID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097280" y="1920240"/>
            <a:ext cx="5029200" cy="365760"/>
          </a:xfrm>
          <a:prstGeom prst="roundRect">
            <a:avLst/>
          </a:prstGeom>
          <a:solidFill>
            <a:srgbClr val="EEF2FF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143000" y="1938528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D2A3A"/>
                </a:solidFill>
              </a:defRPr>
            </a:pPr>
            <a:r>
              <a:t>题目标题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126480" y="1920240"/>
            <a:ext cx="914400" cy="365760"/>
          </a:xfrm>
          <a:prstGeom prst="roundRect">
            <a:avLst/>
          </a:prstGeom>
          <a:solidFill>
            <a:srgbClr val="EEF2FF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172200" y="1938528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D2A3A"/>
                </a:solidFill>
              </a:defRPr>
            </a:pPr>
            <a:r>
              <a:t>题型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040880" y="1920240"/>
            <a:ext cx="731520" cy="365760"/>
          </a:xfrm>
          <a:prstGeom prst="roundRect">
            <a:avLst/>
          </a:prstGeom>
          <a:solidFill>
            <a:srgbClr val="EEF2FF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086600" y="1938528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D2A3A"/>
                </a:solidFill>
              </a:defRPr>
            </a:pPr>
            <a:r>
              <a:t>难度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772400" y="1920240"/>
            <a:ext cx="731520" cy="365760"/>
          </a:xfrm>
          <a:prstGeom prst="roundRect">
            <a:avLst/>
          </a:prstGeom>
          <a:solidFill>
            <a:srgbClr val="EEF2FF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818120" y="1938528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D2A3A"/>
                </a:solidFill>
              </a:defRPr>
            </a:pPr>
            <a:r>
              <a:t>状态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503920" y="1920240"/>
            <a:ext cx="1645920" cy="365760"/>
          </a:xfrm>
          <a:prstGeom prst="roundRect">
            <a:avLst/>
          </a:prstGeom>
          <a:solidFill>
            <a:srgbClr val="EEF2FF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549640" y="1938528"/>
            <a:ext cx="155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D2A3A"/>
                </a:solidFill>
              </a:defRPr>
            </a:pPr>
            <a:r>
              <a:t>操作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57200" y="2331720"/>
            <a:ext cx="640080" cy="365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02920" y="2350008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D2A3A"/>
                </a:solidFill>
              </a:defRPr>
            </a:pPr>
            <a:r>
              <a:t>001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1097280" y="2331720"/>
            <a:ext cx="5029200" cy="365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143000" y="2350008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D2A3A"/>
                </a:solidFill>
              </a:defRPr>
            </a:pPr>
            <a:r>
              <a:t>计算定积分 ∫₀¹ x² dx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126480" y="2331720"/>
            <a:ext cx="914400" cy="365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172200" y="2350008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D2A3A"/>
                </a:solidFill>
              </a:defRPr>
            </a:pPr>
            <a:r>
              <a:t>简答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7040880" y="2331720"/>
            <a:ext cx="731520" cy="365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086600" y="2350008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D2A3A"/>
                </a:solidFill>
              </a:defRPr>
            </a:pPr>
            <a:r>
              <a:t>★★☆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7772400" y="2331720"/>
            <a:ext cx="731520" cy="365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818120" y="2350008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2C55E"/>
                </a:solidFill>
              </a:defRPr>
            </a:pPr>
            <a:r>
              <a:t>已发布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8503920" y="2331720"/>
            <a:ext cx="1645920" cy="365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ounded Rectangle 41"/>
          <p:cNvSpPr/>
          <p:nvPr/>
        </p:nvSpPr>
        <p:spPr>
          <a:xfrm>
            <a:off x="9418320" y="2359152"/>
            <a:ext cx="640080" cy="292608"/>
          </a:xfrm>
          <a:prstGeom prst="round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编辑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10149840" y="2359152"/>
            <a:ext cx="640080" cy="292608"/>
          </a:xfrm>
          <a:prstGeom prst="round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AI解答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457200" y="2743200"/>
            <a:ext cx="640080" cy="365760"/>
          </a:xfrm>
          <a:prstGeom prst="roundRect">
            <a:avLst/>
          </a:prstGeom>
          <a:solidFill>
            <a:srgbClr val="FAFBFC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502920" y="2761488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D2A3A"/>
                </a:solidFill>
              </a:defRPr>
            </a:pPr>
            <a:r>
              <a:t>002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1097280" y="2743200"/>
            <a:ext cx="5029200" cy="365760"/>
          </a:xfrm>
          <a:prstGeom prst="roundRect">
            <a:avLst/>
          </a:prstGeom>
          <a:solidFill>
            <a:srgbClr val="FAFBFC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1143000" y="2761488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D2A3A"/>
                </a:solidFill>
              </a:defRPr>
            </a:pPr>
            <a:r>
              <a:t>以下哪个是线性方程组的解?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6126480" y="2743200"/>
            <a:ext cx="914400" cy="365760"/>
          </a:xfrm>
          <a:prstGeom prst="roundRect">
            <a:avLst/>
          </a:prstGeom>
          <a:solidFill>
            <a:srgbClr val="FAFBFC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172200" y="2761488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D2A3A"/>
                </a:solidFill>
              </a:defRPr>
            </a:pPr>
            <a:r>
              <a:t>单选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7040880" y="2743200"/>
            <a:ext cx="731520" cy="365760"/>
          </a:xfrm>
          <a:prstGeom prst="roundRect">
            <a:avLst/>
          </a:prstGeom>
          <a:solidFill>
            <a:srgbClr val="FAFBFC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7086600" y="2761488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D2A3A"/>
                </a:solidFill>
              </a:defRPr>
            </a:pPr>
            <a:r>
              <a:t>★★★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7772400" y="2743200"/>
            <a:ext cx="731520" cy="365760"/>
          </a:xfrm>
          <a:prstGeom prst="roundRect">
            <a:avLst/>
          </a:prstGeom>
          <a:solidFill>
            <a:srgbClr val="FAFBFC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7818120" y="2761488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2C55E"/>
                </a:solidFill>
              </a:defRPr>
            </a:pPr>
            <a:r>
              <a:t>已发布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8503920" y="2743200"/>
            <a:ext cx="1645920" cy="365760"/>
          </a:xfrm>
          <a:prstGeom prst="roundRect">
            <a:avLst/>
          </a:prstGeom>
          <a:solidFill>
            <a:srgbClr val="FAFBFC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ounded Rectangle 54"/>
          <p:cNvSpPr/>
          <p:nvPr/>
        </p:nvSpPr>
        <p:spPr>
          <a:xfrm>
            <a:off x="9418320" y="2770632"/>
            <a:ext cx="640080" cy="292608"/>
          </a:xfrm>
          <a:prstGeom prst="round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编辑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10149840" y="2770632"/>
            <a:ext cx="640080" cy="292608"/>
          </a:xfrm>
          <a:prstGeom prst="round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AI解答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457200" y="3154679"/>
            <a:ext cx="640080" cy="365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502920" y="3172967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D2A3A"/>
                </a:solidFill>
              </a:defRPr>
            </a:pPr>
            <a:r>
              <a:t>003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1097280" y="3154679"/>
            <a:ext cx="5029200" cy="365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1143000" y="3172967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D2A3A"/>
                </a:solidFill>
              </a:defRPr>
            </a:pPr>
            <a:r>
              <a:t>解释冒泡排序的时间复杂度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6126480" y="3154679"/>
            <a:ext cx="914400" cy="365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6172200" y="3172967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D2A3A"/>
                </a:solidFill>
              </a:defRPr>
            </a:pPr>
            <a:r>
              <a:t>简答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7040880" y="3154679"/>
            <a:ext cx="731520" cy="365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7086600" y="3172967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D2A3A"/>
                </a:solidFill>
              </a:defRPr>
            </a:pPr>
            <a:r>
              <a:t>★★☆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7772400" y="3154679"/>
            <a:ext cx="731520" cy="365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7818120" y="3172967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2C55E"/>
                </a:solidFill>
              </a:defRPr>
            </a:pPr>
            <a:r>
              <a:t>审核中</a:t>
            </a:r>
          </a:p>
        </p:txBody>
      </p:sp>
      <p:sp>
        <p:nvSpPr>
          <p:cNvPr id="67" name="Rounded Rectangle 66"/>
          <p:cNvSpPr/>
          <p:nvPr/>
        </p:nvSpPr>
        <p:spPr>
          <a:xfrm>
            <a:off x="8503920" y="3154679"/>
            <a:ext cx="1645920" cy="365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ounded Rectangle 67"/>
          <p:cNvSpPr/>
          <p:nvPr/>
        </p:nvSpPr>
        <p:spPr>
          <a:xfrm>
            <a:off x="9418320" y="3182111"/>
            <a:ext cx="640080" cy="292608"/>
          </a:xfrm>
          <a:prstGeom prst="round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编辑</a:t>
            </a:r>
          </a:p>
        </p:txBody>
      </p:sp>
      <p:sp>
        <p:nvSpPr>
          <p:cNvPr id="69" name="Rounded Rectangle 68"/>
          <p:cNvSpPr/>
          <p:nvPr/>
        </p:nvSpPr>
        <p:spPr>
          <a:xfrm>
            <a:off x="10149840" y="3182111"/>
            <a:ext cx="640080" cy="292608"/>
          </a:xfrm>
          <a:prstGeom prst="round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AI解答</a:t>
            </a:r>
          </a:p>
        </p:txBody>
      </p:sp>
      <p:sp>
        <p:nvSpPr>
          <p:cNvPr id="70" name="Rounded Rectangle 69"/>
          <p:cNvSpPr/>
          <p:nvPr/>
        </p:nvSpPr>
        <p:spPr>
          <a:xfrm>
            <a:off x="457200" y="3566160"/>
            <a:ext cx="640080" cy="365760"/>
          </a:xfrm>
          <a:prstGeom prst="roundRect">
            <a:avLst/>
          </a:prstGeom>
          <a:solidFill>
            <a:srgbClr val="FAFBFC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502920" y="3584448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D2A3A"/>
                </a:solidFill>
              </a:defRPr>
            </a:pPr>
            <a:r>
              <a:t>004</a:t>
            </a:r>
          </a:p>
        </p:txBody>
      </p:sp>
      <p:sp>
        <p:nvSpPr>
          <p:cNvPr id="72" name="Rounded Rectangle 71"/>
          <p:cNvSpPr/>
          <p:nvPr/>
        </p:nvSpPr>
        <p:spPr>
          <a:xfrm>
            <a:off x="1097280" y="3566160"/>
            <a:ext cx="5029200" cy="365760"/>
          </a:xfrm>
          <a:prstGeom prst="roundRect">
            <a:avLst/>
          </a:prstGeom>
          <a:solidFill>
            <a:srgbClr val="FAFBFC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1143000" y="3584448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D2A3A"/>
                </a:solidFill>
              </a:defRPr>
            </a:pPr>
            <a:r>
              <a:t>补全以下 Python 代码实现快速排序</a:t>
            </a:r>
          </a:p>
        </p:txBody>
      </p:sp>
      <p:sp>
        <p:nvSpPr>
          <p:cNvPr id="74" name="Rounded Rectangle 73"/>
          <p:cNvSpPr/>
          <p:nvPr/>
        </p:nvSpPr>
        <p:spPr>
          <a:xfrm>
            <a:off x="6126480" y="3566160"/>
            <a:ext cx="914400" cy="365760"/>
          </a:xfrm>
          <a:prstGeom prst="roundRect">
            <a:avLst/>
          </a:prstGeom>
          <a:solidFill>
            <a:srgbClr val="FAFBFC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6172200" y="3584448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D2A3A"/>
                </a:solidFill>
              </a:defRPr>
            </a:pPr>
            <a:r>
              <a:t>编程</a:t>
            </a:r>
          </a:p>
        </p:txBody>
      </p:sp>
      <p:sp>
        <p:nvSpPr>
          <p:cNvPr id="76" name="Rounded Rectangle 75"/>
          <p:cNvSpPr/>
          <p:nvPr/>
        </p:nvSpPr>
        <p:spPr>
          <a:xfrm>
            <a:off x="7040880" y="3566160"/>
            <a:ext cx="731520" cy="365760"/>
          </a:xfrm>
          <a:prstGeom prst="roundRect">
            <a:avLst/>
          </a:prstGeom>
          <a:solidFill>
            <a:srgbClr val="FAFBFC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7086600" y="3584448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D2A3A"/>
                </a:solidFill>
              </a:defRPr>
            </a:pPr>
            <a:r>
              <a:t>★★★★</a:t>
            </a:r>
          </a:p>
        </p:txBody>
      </p:sp>
      <p:sp>
        <p:nvSpPr>
          <p:cNvPr id="78" name="Rounded Rectangle 77"/>
          <p:cNvSpPr/>
          <p:nvPr/>
        </p:nvSpPr>
        <p:spPr>
          <a:xfrm>
            <a:off x="7772400" y="3566160"/>
            <a:ext cx="731520" cy="365760"/>
          </a:xfrm>
          <a:prstGeom prst="roundRect">
            <a:avLst/>
          </a:prstGeom>
          <a:solidFill>
            <a:srgbClr val="FAFBFC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7818120" y="3584448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2C55E"/>
                </a:solidFill>
              </a:defRPr>
            </a:pPr>
            <a:r>
              <a:t>已发布</a:t>
            </a:r>
          </a:p>
        </p:txBody>
      </p:sp>
      <p:sp>
        <p:nvSpPr>
          <p:cNvPr id="80" name="Rounded Rectangle 79"/>
          <p:cNvSpPr/>
          <p:nvPr/>
        </p:nvSpPr>
        <p:spPr>
          <a:xfrm>
            <a:off x="8503920" y="3566160"/>
            <a:ext cx="1645920" cy="365760"/>
          </a:xfrm>
          <a:prstGeom prst="roundRect">
            <a:avLst/>
          </a:prstGeom>
          <a:solidFill>
            <a:srgbClr val="FAFBFC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ounded Rectangle 80"/>
          <p:cNvSpPr/>
          <p:nvPr/>
        </p:nvSpPr>
        <p:spPr>
          <a:xfrm>
            <a:off x="9418320" y="3593592"/>
            <a:ext cx="640080" cy="292608"/>
          </a:xfrm>
          <a:prstGeom prst="round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编辑</a:t>
            </a:r>
          </a:p>
        </p:txBody>
      </p:sp>
      <p:sp>
        <p:nvSpPr>
          <p:cNvPr id="82" name="Rounded Rectangle 81"/>
          <p:cNvSpPr/>
          <p:nvPr/>
        </p:nvSpPr>
        <p:spPr>
          <a:xfrm>
            <a:off x="10149840" y="3593592"/>
            <a:ext cx="640080" cy="292608"/>
          </a:xfrm>
          <a:prstGeom prst="round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AI解答</a:t>
            </a:r>
          </a:p>
        </p:txBody>
      </p:sp>
      <p:sp>
        <p:nvSpPr>
          <p:cNvPr id="83" name="Rounded Rectangle 82"/>
          <p:cNvSpPr/>
          <p:nvPr/>
        </p:nvSpPr>
        <p:spPr>
          <a:xfrm>
            <a:off x="457200" y="3977639"/>
            <a:ext cx="640080" cy="365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502920" y="3995927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D2A3A"/>
                </a:solidFill>
              </a:defRPr>
            </a:pPr>
            <a:r>
              <a:t>005</a:t>
            </a:r>
          </a:p>
        </p:txBody>
      </p:sp>
      <p:sp>
        <p:nvSpPr>
          <p:cNvPr id="85" name="Rounded Rectangle 84"/>
          <p:cNvSpPr/>
          <p:nvPr/>
        </p:nvSpPr>
        <p:spPr>
          <a:xfrm>
            <a:off x="1097280" y="3977639"/>
            <a:ext cx="5029200" cy="365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1143000" y="3995927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D2A3A"/>
                </a:solidFill>
              </a:defRPr>
            </a:pPr>
            <a:r>
              <a:t>判断: 所有质数都是奇数</a:t>
            </a:r>
          </a:p>
        </p:txBody>
      </p:sp>
      <p:sp>
        <p:nvSpPr>
          <p:cNvPr id="87" name="Rounded Rectangle 86"/>
          <p:cNvSpPr/>
          <p:nvPr/>
        </p:nvSpPr>
        <p:spPr>
          <a:xfrm>
            <a:off x="6126480" y="3977639"/>
            <a:ext cx="914400" cy="365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6172200" y="3995927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D2A3A"/>
                </a:solidFill>
              </a:defRPr>
            </a:pPr>
            <a:r>
              <a:t>判断</a:t>
            </a:r>
          </a:p>
        </p:txBody>
      </p:sp>
      <p:sp>
        <p:nvSpPr>
          <p:cNvPr id="89" name="Rounded Rectangle 88"/>
          <p:cNvSpPr/>
          <p:nvPr/>
        </p:nvSpPr>
        <p:spPr>
          <a:xfrm>
            <a:off x="7040880" y="3977639"/>
            <a:ext cx="731520" cy="365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7086600" y="3995927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D2A3A"/>
                </a:solidFill>
              </a:defRPr>
            </a:pPr>
            <a:r>
              <a:t>★☆☆</a:t>
            </a:r>
          </a:p>
        </p:txBody>
      </p:sp>
      <p:sp>
        <p:nvSpPr>
          <p:cNvPr id="91" name="Rounded Rectangle 90"/>
          <p:cNvSpPr/>
          <p:nvPr/>
        </p:nvSpPr>
        <p:spPr>
          <a:xfrm>
            <a:off x="7772400" y="3977639"/>
            <a:ext cx="731520" cy="365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7818120" y="3995927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2C55E"/>
                </a:solidFill>
              </a:defRPr>
            </a:pPr>
            <a:r>
              <a:t>已发布</a:t>
            </a:r>
          </a:p>
        </p:txBody>
      </p:sp>
      <p:sp>
        <p:nvSpPr>
          <p:cNvPr id="93" name="Rounded Rectangle 92"/>
          <p:cNvSpPr/>
          <p:nvPr/>
        </p:nvSpPr>
        <p:spPr>
          <a:xfrm>
            <a:off x="8503920" y="3977639"/>
            <a:ext cx="1645920" cy="365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Rounded Rectangle 93"/>
          <p:cNvSpPr/>
          <p:nvPr/>
        </p:nvSpPr>
        <p:spPr>
          <a:xfrm>
            <a:off x="9418320" y="4005071"/>
            <a:ext cx="640080" cy="292608"/>
          </a:xfrm>
          <a:prstGeom prst="round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编辑</a:t>
            </a:r>
          </a:p>
        </p:txBody>
      </p:sp>
      <p:sp>
        <p:nvSpPr>
          <p:cNvPr id="95" name="Rounded Rectangle 94"/>
          <p:cNvSpPr/>
          <p:nvPr/>
        </p:nvSpPr>
        <p:spPr>
          <a:xfrm>
            <a:off x="10149840" y="4005071"/>
            <a:ext cx="640080" cy="292608"/>
          </a:xfrm>
          <a:prstGeom prst="round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AI解答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4572000" y="530352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9CA3AF"/>
                </a:solidFill>
              </a:defRPr>
            </a:pPr>
            <a:r>
              <a:t>第 1/26 页  共 128 条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731520"/>
          </a:xfrm>
          <a:prstGeom prst="roundRect">
            <a:avLst/>
          </a:prstGeom>
          <a:solidFill>
            <a:srgbClr val="2F5496"/>
          </a:solidFill>
          <a:ln w="12700">
            <a:solidFill>
              <a:srgbClr val="2F54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</a:defRPr>
            </a:pPr>
            <a:r>
              <a:t>题目详情 + AI 解答 / Question Detail + 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3093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CA3AF"/>
                </a:solidFill>
              </a:defRPr>
            </a:pPr>
            <a:r>
              <a:t>AI+题库智能教学平台 | UI设计稿 v1.1 | 2026.10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0584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D2A3A"/>
                </a:solidFill>
              </a:defRPr>
            </a:pPr>
            <a:r>
              <a:t>题目 #001  计算定积分 ∫₀¹ x² dx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371600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CA3AF"/>
                </a:solidFill>
              </a:defRPr>
            </a:pPr>
            <a:r>
              <a:t>题型: 简答 | 难度: ★★☆ | 标签: 高等数学, 积分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737360"/>
            <a:ext cx="5303520" cy="1463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828800"/>
            <a:ext cx="49377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D2A3A"/>
                </a:solidFill>
              </a:defRPr>
            </a:pPr>
            <a:r>
              <a:t>题目内容:</a:t>
            </a:r>
            <a:br/>
            <a:r>
              <a:t>计算定积分 ∫₀¹ x² dx，要求写出详细步骤。</a:t>
            </a:r>
            <a:br/>
            <a:br/>
            <a:r>
              <a:t>标准答案: 1/3</a:t>
            </a:r>
            <a:br/>
            <a:r>
              <a:t>解析: 使用牛顿-莱布尼茨公式,</a:t>
            </a:r>
            <a:br/>
            <a:r>
              <a:t>∫x²dx = x³/3, 代入上下限得 1/3 - 0 = 1/3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100584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2C55E"/>
                </a:solidFill>
              </a:defRPr>
            </a:pPr>
            <a:r>
              <a:t>🤖 AI 官方解答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1371600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CA3AF"/>
                </a:solidFill>
              </a:defRPr>
            </a:pPr>
            <a:r>
              <a:t>模型: gpt-4o-mini | 生成时间: 2026-10-10 14:30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0" y="1737360"/>
            <a:ext cx="5303520" cy="2926080"/>
          </a:xfrm>
          <a:prstGeom prst="roundRect">
            <a:avLst/>
          </a:prstGeom>
          <a:solidFill>
            <a:srgbClr val="F0FDF4"/>
          </a:solidFill>
          <a:ln w="1270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83680" y="1828800"/>
            <a:ext cx="493776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D2A3A"/>
                </a:solidFill>
              </a:defRPr>
            </a:pPr>
            <a:r>
              <a:t>【解题步骤】</a:t>
            </a:r>
            <a:br/>
            <a:br/>
            <a:r>
              <a:t>1. 确定原函数: ∫x² dx = (1/3)x³ + C</a:t>
            </a:r>
            <a:br/>
            <a:br/>
            <a:r>
              <a:t>2. 应用牛顿-莱布尼茨公式:</a:t>
            </a:r>
            <a:br/>
            <a:r>
              <a:t>   ∫₀¹ x² dx = [x³/3]₀¹</a:t>
            </a:r>
            <a:br/>
            <a:br/>
            <a:r>
              <a:t>3. 代入上下限:</a:t>
            </a:r>
            <a:br/>
            <a:r>
              <a:t>   = (1³/3) - (0³/3)</a:t>
            </a:r>
            <a:br/>
            <a:r>
              <a:t>   = 1/3 - 0</a:t>
            </a:r>
            <a:br/>
            <a:r>
              <a:t>   = 1/3</a:t>
            </a:r>
            <a:br/>
            <a:br/>
            <a:r>
              <a:t>【结论】定积分的值为 1/3 ≈ 0.3333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875520" y="4846320"/>
            <a:ext cx="1645920" cy="365760"/>
          </a:xfrm>
          <a:prstGeom prst="round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💬 继续追问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347472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D2A3A"/>
                </a:solidFill>
              </a:defRPr>
            </a:pPr>
            <a:r>
              <a:t>对话分支树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3931920"/>
            <a:ext cx="11247120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41148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2C55E"/>
                </a:solidFill>
              </a:defRPr>
            </a:pPr>
            <a:r>
              <a:t>🤖 AI 官方解答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7280" y="443484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59E0B"/>
                </a:solidFill>
              </a:defRPr>
            </a:pPr>
            <a:r>
              <a:t>├─ 👤 追问: 为什么原函数是 x³/3?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54480" y="475488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2C55E"/>
                </a:solidFill>
              </a:defRPr>
            </a:pPr>
            <a:r>
              <a:t>│  └─ 🤖 因为幂函数积分公式 ∫xⁿdx = xⁿ⁺¹/(n+1)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7280" y="507492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59E0B"/>
                </a:solidFill>
              </a:defRPr>
            </a:pPr>
            <a:r>
              <a:t>├─ 👤 有没有其他解法?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539496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472C4"/>
                </a:solidFill>
              </a:defRPr>
            </a:pPr>
            <a:r>
              <a:t>📌 推荐答案: AI 官方解答 (教师标记)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731520"/>
          </a:xfrm>
          <a:prstGeom prst="roundRect">
            <a:avLst/>
          </a:prstGeom>
          <a:solidFill>
            <a:srgbClr val="2F5496"/>
          </a:solidFill>
          <a:ln w="12700">
            <a:solidFill>
              <a:srgbClr val="2F54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</a:defRPr>
            </a:pPr>
            <a:r>
              <a:t>试卷管理 / Exam Management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3093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CA3AF"/>
                </a:solidFill>
              </a:defRPr>
            </a:pPr>
            <a:r>
              <a:t>AI+题库智能教学平台 | UI设计稿 v1.1 | 2026.10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058400" y="1005840"/>
            <a:ext cx="1371600" cy="411480"/>
          </a:xfrm>
          <a:prstGeom prst="round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+ 新建试卷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64592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D2A3A"/>
                </a:solidFill>
              </a:defRPr>
            </a:pPr>
            <a:r>
              <a:t>试卷列表 (共15套)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103120"/>
            <a:ext cx="457200" cy="365760"/>
          </a:xfrm>
          <a:prstGeom prst="roundRect">
            <a:avLst/>
          </a:prstGeom>
          <a:solidFill>
            <a:srgbClr val="EEF2FF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2121408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D2A3A"/>
                </a:solidFill>
              </a:defRPr>
            </a:pPr>
            <a:r>
              <a:t>ID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14400" y="2103120"/>
            <a:ext cx="3657600" cy="365760"/>
          </a:xfrm>
          <a:prstGeom prst="roundRect">
            <a:avLst/>
          </a:prstGeom>
          <a:solidFill>
            <a:srgbClr val="EEF2FF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2121408"/>
            <a:ext cx="3566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D2A3A"/>
                </a:solidFill>
              </a:defRPr>
            </a:pPr>
            <a:r>
              <a:t>试卷名称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0" y="2103120"/>
            <a:ext cx="914400" cy="365760"/>
          </a:xfrm>
          <a:prstGeom prst="roundRect">
            <a:avLst/>
          </a:prstGeom>
          <a:solidFill>
            <a:srgbClr val="EEF2FF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17720" y="2121408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D2A3A"/>
                </a:solidFill>
              </a:defRPr>
            </a:pPr>
            <a:r>
              <a:t>题目数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0" y="2103120"/>
            <a:ext cx="731520" cy="365760"/>
          </a:xfrm>
          <a:prstGeom prst="roundRect">
            <a:avLst/>
          </a:prstGeom>
          <a:solidFill>
            <a:srgbClr val="EEF2FF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532120" y="2121408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D2A3A"/>
                </a:solidFill>
              </a:defRPr>
            </a:pPr>
            <a:r>
              <a:t>总分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17920" y="2103120"/>
            <a:ext cx="1828800" cy="365760"/>
          </a:xfrm>
          <a:prstGeom prst="roundRect">
            <a:avLst/>
          </a:prstGeom>
          <a:solidFill>
            <a:srgbClr val="EEF2FF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63640" y="2121408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D2A3A"/>
                </a:solidFill>
              </a:defRPr>
            </a:pPr>
            <a:r>
              <a:t>创建时间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46720" y="2103120"/>
            <a:ext cx="914400" cy="365760"/>
          </a:xfrm>
          <a:prstGeom prst="roundRect">
            <a:avLst/>
          </a:prstGeom>
          <a:solidFill>
            <a:srgbClr val="EEF2FF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092440" y="2121408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D2A3A"/>
                </a:solidFill>
              </a:defRPr>
            </a:pPr>
            <a:r>
              <a:t>状态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961120" y="2103120"/>
            <a:ext cx="2286000" cy="365760"/>
          </a:xfrm>
          <a:prstGeom prst="roundRect">
            <a:avLst/>
          </a:prstGeom>
          <a:solidFill>
            <a:srgbClr val="EEF2FF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06840" y="2121408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D2A3A"/>
                </a:solidFill>
              </a:defRPr>
            </a:pPr>
            <a:r>
              <a:t>操作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57200" y="2514600"/>
            <a:ext cx="457200" cy="365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2920" y="2532888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D2A3A"/>
                </a:solidFill>
              </a:defRPr>
            </a:pPr>
            <a:r>
              <a:t>E01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14400" y="2514600"/>
            <a:ext cx="3657600" cy="365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60120" y="2532888"/>
            <a:ext cx="3566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D2A3A"/>
                </a:solidFill>
              </a:defRPr>
            </a:pPr>
            <a:r>
              <a:t>高等数学期中考试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572000" y="2514600"/>
            <a:ext cx="914400" cy="365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617720" y="2532888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D2A3A"/>
                </a:solidFill>
              </a:defRPr>
            </a:pPr>
            <a:r>
              <a:t>20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486400" y="2514600"/>
            <a:ext cx="731520" cy="365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532120" y="2532888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D2A3A"/>
                </a:solidFill>
              </a:defRPr>
            </a:pPr>
            <a:r>
              <a:t>100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217920" y="2514600"/>
            <a:ext cx="1828800" cy="365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263640" y="2532888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D2A3A"/>
                </a:solidFill>
              </a:defRPr>
            </a:pPr>
            <a:r>
              <a:t>2026-10-08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046720" y="2514600"/>
            <a:ext cx="914400" cy="365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092440" y="2532888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2C55E"/>
                </a:solidFill>
              </a:defRPr>
            </a:pPr>
            <a:r>
              <a:t>已发布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961120" y="2514600"/>
            <a:ext cx="2286000" cy="365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8595360" y="2542032"/>
            <a:ext cx="640080" cy="292608"/>
          </a:xfrm>
          <a:prstGeom prst="round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预览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9326880" y="2542032"/>
            <a:ext cx="640080" cy="292608"/>
          </a:xfrm>
          <a:prstGeom prst="roundRect">
            <a:avLst/>
          </a:prstGeom>
          <a:solidFill>
            <a:srgbClr val="6B72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编辑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10058400" y="2542032"/>
            <a:ext cx="822960" cy="292608"/>
          </a:xfrm>
          <a:prstGeom prst="round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导出PDF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457200" y="2926080"/>
            <a:ext cx="457200" cy="365760"/>
          </a:xfrm>
          <a:prstGeom prst="roundRect">
            <a:avLst/>
          </a:prstGeom>
          <a:solidFill>
            <a:srgbClr val="FAFBFC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02920" y="2944368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D2A3A"/>
                </a:solidFill>
              </a:defRPr>
            </a:pPr>
            <a:r>
              <a:t>E02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914400" y="2926080"/>
            <a:ext cx="3657600" cy="365760"/>
          </a:xfrm>
          <a:prstGeom prst="roundRect">
            <a:avLst/>
          </a:prstGeom>
          <a:solidFill>
            <a:srgbClr val="FAFBFC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60120" y="2944368"/>
            <a:ext cx="3566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D2A3A"/>
                </a:solidFill>
              </a:defRPr>
            </a:pPr>
            <a:r>
              <a:t>线性代数期末试卷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4572000" y="2926080"/>
            <a:ext cx="914400" cy="365760"/>
          </a:xfrm>
          <a:prstGeom prst="roundRect">
            <a:avLst/>
          </a:prstGeom>
          <a:solidFill>
            <a:srgbClr val="FAFBFC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617720" y="2944368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D2A3A"/>
                </a:solidFill>
              </a:defRPr>
            </a:pPr>
            <a:r>
              <a:t>15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5486400" y="2926080"/>
            <a:ext cx="731520" cy="365760"/>
          </a:xfrm>
          <a:prstGeom prst="roundRect">
            <a:avLst/>
          </a:prstGeom>
          <a:solidFill>
            <a:srgbClr val="FAFBFC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5532120" y="2944368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D2A3A"/>
                </a:solidFill>
              </a:defRPr>
            </a:pPr>
            <a:r>
              <a:t>100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6217920" y="2926080"/>
            <a:ext cx="1828800" cy="365760"/>
          </a:xfrm>
          <a:prstGeom prst="roundRect">
            <a:avLst/>
          </a:prstGeom>
          <a:solidFill>
            <a:srgbClr val="FAFBFC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263640" y="2944368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D2A3A"/>
                </a:solidFill>
              </a:defRPr>
            </a:pPr>
            <a:r>
              <a:t>2026-10-05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8046720" y="2926080"/>
            <a:ext cx="914400" cy="365760"/>
          </a:xfrm>
          <a:prstGeom prst="roundRect">
            <a:avLst/>
          </a:prstGeom>
          <a:solidFill>
            <a:srgbClr val="FAFBFC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8092440" y="2944368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2C55E"/>
                </a:solidFill>
              </a:defRPr>
            </a:pPr>
            <a:r>
              <a:t>已发布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8961120" y="2926080"/>
            <a:ext cx="2286000" cy="365760"/>
          </a:xfrm>
          <a:prstGeom prst="roundRect">
            <a:avLst/>
          </a:prstGeom>
          <a:solidFill>
            <a:srgbClr val="FAFBFC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ounded Rectangle 49"/>
          <p:cNvSpPr/>
          <p:nvPr/>
        </p:nvSpPr>
        <p:spPr>
          <a:xfrm>
            <a:off x="8595360" y="2953512"/>
            <a:ext cx="640080" cy="292608"/>
          </a:xfrm>
          <a:prstGeom prst="round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预览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9326880" y="2953512"/>
            <a:ext cx="640080" cy="292608"/>
          </a:xfrm>
          <a:prstGeom prst="roundRect">
            <a:avLst/>
          </a:prstGeom>
          <a:solidFill>
            <a:srgbClr val="6B72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编辑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10058400" y="2953512"/>
            <a:ext cx="822960" cy="292608"/>
          </a:xfrm>
          <a:prstGeom prst="round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导出PDF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457200" y="3337560"/>
            <a:ext cx="457200" cy="365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502920" y="3355848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D2A3A"/>
                </a:solidFill>
              </a:defRPr>
            </a:pPr>
            <a:r>
              <a:t>E03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914400" y="3337560"/>
            <a:ext cx="3657600" cy="365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960120" y="3355848"/>
            <a:ext cx="3566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D2A3A"/>
                </a:solidFill>
              </a:defRPr>
            </a:pPr>
            <a:r>
              <a:t>C语言编程测验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4572000" y="3337560"/>
            <a:ext cx="914400" cy="365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4617720" y="3355848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D2A3A"/>
                </a:solidFill>
              </a:defRPr>
            </a:pPr>
            <a:r>
              <a:t>10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5486400" y="3337560"/>
            <a:ext cx="731520" cy="365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5532120" y="3355848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D2A3A"/>
                </a:solidFill>
              </a:defRPr>
            </a:pPr>
            <a:r>
              <a:t>50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6217920" y="3337560"/>
            <a:ext cx="1828800" cy="365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6263640" y="3355848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D2A3A"/>
                </a:solidFill>
              </a:defRPr>
            </a:pPr>
            <a:r>
              <a:t>2026-10-03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8046720" y="3337560"/>
            <a:ext cx="914400" cy="365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8092440" y="3355848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59E0B"/>
                </a:solidFill>
              </a:defRPr>
            </a:pPr>
            <a:r>
              <a:t>草稿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8961120" y="3337560"/>
            <a:ext cx="2286000" cy="365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ounded Rectangle 65"/>
          <p:cNvSpPr/>
          <p:nvPr/>
        </p:nvSpPr>
        <p:spPr>
          <a:xfrm>
            <a:off x="8595360" y="3364992"/>
            <a:ext cx="640080" cy="292608"/>
          </a:xfrm>
          <a:prstGeom prst="round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预览</a:t>
            </a:r>
          </a:p>
        </p:txBody>
      </p:sp>
      <p:sp>
        <p:nvSpPr>
          <p:cNvPr id="67" name="Rounded Rectangle 66"/>
          <p:cNvSpPr/>
          <p:nvPr/>
        </p:nvSpPr>
        <p:spPr>
          <a:xfrm>
            <a:off x="9326880" y="3364992"/>
            <a:ext cx="640080" cy="292608"/>
          </a:xfrm>
          <a:prstGeom prst="roundRect">
            <a:avLst/>
          </a:prstGeom>
          <a:solidFill>
            <a:srgbClr val="6B72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编辑</a:t>
            </a:r>
          </a:p>
        </p:txBody>
      </p:sp>
      <p:sp>
        <p:nvSpPr>
          <p:cNvPr id="68" name="Rounded Rectangle 67"/>
          <p:cNvSpPr/>
          <p:nvPr/>
        </p:nvSpPr>
        <p:spPr>
          <a:xfrm>
            <a:off x="10058400" y="3364992"/>
            <a:ext cx="822960" cy="292608"/>
          </a:xfrm>
          <a:prstGeom prst="round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导出PDF</a:t>
            </a:r>
          </a:p>
        </p:txBody>
      </p:sp>
      <p:sp>
        <p:nvSpPr>
          <p:cNvPr id="69" name="Rounded Rectangle 68"/>
          <p:cNvSpPr/>
          <p:nvPr/>
        </p:nvSpPr>
        <p:spPr>
          <a:xfrm>
            <a:off x="457200" y="3749039"/>
            <a:ext cx="457200" cy="365760"/>
          </a:xfrm>
          <a:prstGeom prst="roundRect">
            <a:avLst/>
          </a:prstGeom>
          <a:solidFill>
            <a:srgbClr val="FAFBFC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502920" y="3767327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D2A3A"/>
                </a:solidFill>
              </a:defRPr>
            </a:pPr>
            <a:r>
              <a:t>E04</a:t>
            </a:r>
          </a:p>
        </p:txBody>
      </p:sp>
      <p:sp>
        <p:nvSpPr>
          <p:cNvPr id="71" name="Rounded Rectangle 70"/>
          <p:cNvSpPr/>
          <p:nvPr/>
        </p:nvSpPr>
        <p:spPr>
          <a:xfrm>
            <a:off x="914400" y="3749039"/>
            <a:ext cx="3657600" cy="365760"/>
          </a:xfrm>
          <a:prstGeom prst="roundRect">
            <a:avLst/>
          </a:prstGeom>
          <a:solidFill>
            <a:srgbClr val="FAFBFC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960120" y="3767327"/>
            <a:ext cx="3566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D2A3A"/>
                </a:solidFill>
              </a:defRPr>
            </a:pPr>
            <a:r>
              <a:t>概率论章节练习</a:t>
            </a:r>
          </a:p>
        </p:txBody>
      </p:sp>
      <p:sp>
        <p:nvSpPr>
          <p:cNvPr id="73" name="Rounded Rectangle 72"/>
          <p:cNvSpPr/>
          <p:nvPr/>
        </p:nvSpPr>
        <p:spPr>
          <a:xfrm>
            <a:off x="4572000" y="3749039"/>
            <a:ext cx="914400" cy="365760"/>
          </a:xfrm>
          <a:prstGeom prst="roundRect">
            <a:avLst/>
          </a:prstGeom>
          <a:solidFill>
            <a:srgbClr val="FAFBFC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4617720" y="3767327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D2A3A"/>
                </a:solidFill>
              </a:defRPr>
            </a:pPr>
            <a:r>
              <a:t>8</a:t>
            </a:r>
          </a:p>
        </p:txBody>
      </p:sp>
      <p:sp>
        <p:nvSpPr>
          <p:cNvPr id="75" name="Rounded Rectangle 74"/>
          <p:cNvSpPr/>
          <p:nvPr/>
        </p:nvSpPr>
        <p:spPr>
          <a:xfrm>
            <a:off x="5486400" y="3749039"/>
            <a:ext cx="731520" cy="365760"/>
          </a:xfrm>
          <a:prstGeom prst="roundRect">
            <a:avLst/>
          </a:prstGeom>
          <a:solidFill>
            <a:srgbClr val="FAFBFC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5532120" y="3767327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D2A3A"/>
                </a:solidFill>
              </a:defRPr>
            </a:pPr>
            <a:r>
              <a:t>40</a:t>
            </a:r>
          </a:p>
        </p:txBody>
      </p:sp>
      <p:sp>
        <p:nvSpPr>
          <p:cNvPr id="77" name="Rounded Rectangle 76"/>
          <p:cNvSpPr/>
          <p:nvPr/>
        </p:nvSpPr>
        <p:spPr>
          <a:xfrm>
            <a:off x="6217920" y="3749039"/>
            <a:ext cx="1828800" cy="365760"/>
          </a:xfrm>
          <a:prstGeom prst="roundRect">
            <a:avLst/>
          </a:prstGeom>
          <a:solidFill>
            <a:srgbClr val="FAFBFC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6263640" y="3767327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D2A3A"/>
                </a:solidFill>
              </a:defRPr>
            </a:pPr>
            <a:r>
              <a:t>2026-10-01</a:t>
            </a:r>
          </a:p>
        </p:txBody>
      </p:sp>
      <p:sp>
        <p:nvSpPr>
          <p:cNvPr id="79" name="Rounded Rectangle 78"/>
          <p:cNvSpPr/>
          <p:nvPr/>
        </p:nvSpPr>
        <p:spPr>
          <a:xfrm>
            <a:off x="8046720" y="3749039"/>
            <a:ext cx="914400" cy="365760"/>
          </a:xfrm>
          <a:prstGeom prst="roundRect">
            <a:avLst/>
          </a:prstGeom>
          <a:solidFill>
            <a:srgbClr val="FAFBFC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8092440" y="3767327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2C55E"/>
                </a:solidFill>
              </a:defRPr>
            </a:pPr>
            <a:r>
              <a:t>已发布</a:t>
            </a:r>
          </a:p>
        </p:txBody>
      </p:sp>
      <p:sp>
        <p:nvSpPr>
          <p:cNvPr id="81" name="Rounded Rectangle 80"/>
          <p:cNvSpPr/>
          <p:nvPr/>
        </p:nvSpPr>
        <p:spPr>
          <a:xfrm>
            <a:off x="8961120" y="3749039"/>
            <a:ext cx="2286000" cy="365760"/>
          </a:xfrm>
          <a:prstGeom prst="roundRect">
            <a:avLst/>
          </a:prstGeom>
          <a:solidFill>
            <a:srgbClr val="FAFBFC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ounded Rectangle 81"/>
          <p:cNvSpPr/>
          <p:nvPr/>
        </p:nvSpPr>
        <p:spPr>
          <a:xfrm>
            <a:off x="8595360" y="3776471"/>
            <a:ext cx="640080" cy="292608"/>
          </a:xfrm>
          <a:prstGeom prst="round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预览</a:t>
            </a:r>
          </a:p>
        </p:txBody>
      </p:sp>
      <p:sp>
        <p:nvSpPr>
          <p:cNvPr id="83" name="Rounded Rectangle 82"/>
          <p:cNvSpPr/>
          <p:nvPr/>
        </p:nvSpPr>
        <p:spPr>
          <a:xfrm>
            <a:off x="9326880" y="3776471"/>
            <a:ext cx="640080" cy="292608"/>
          </a:xfrm>
          <a:prstGeom prst="roundRect">
            <a:avLst/>
          </a:prstGeom>
          <a:solidFill>
            <a:srgbClr val="6B72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编辑</a:t>
            </a:r>
          </a:p>
        </p:txBody>
      </p:sp>
      <p:sp>
        <p:nvSpPr>
          <p:cNvPr id="84" name="Rounded Rectangle 83"/>
          <p:cNvSpPr/>
          <p:nvPr/>
        </p:nvSpPr>
        <p:spPr>
          <a:xfrm>
            <a:off x="10058400" y="3776471"/>
            <a:ext cx="822960" cy="292608"/>
          </a:xfrm>
          <a:prstGeom prst="round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导出PDF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457200" y="438912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D2A3A"/>
                </a:solidFill>
              </a:defRPr>
            </a:pPr>
            <a:r>
              <a:t>试卷编辑视图 (E01 高等数学期中考试)</a:t>
            </a:r>
          </a:p>
        </p:txBody>
      </p:sp>
      <p:sp>
        <p:nvSpPr>
          <p:cNvPr id="86" name="Rectangle 85"/>
          <p:cNvSpPr/>
          <p:nvPr/>
        </p:nvSpPr>
        <p:spPr>
          <a:xfrm>
            <a:off x="457200" y="4846320"/>
            <a:ext cx="5029200" cy="1280160"/>
          </a:xfrm>
          <a:prstGeom prst="rect">
            <a:avLst/>
          </a:prstGeom>
          <a:solidFill>
            <a:srgbClr val="FAFAFA"/>
          </a:solidFill>
          <a:ln w="12700">
            <a:solidFill>
              <a:srgbClr val="D1D5DB"/>
            </a:solidFill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502920" y="4864608"/>
            <a:ext cx="49377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9CA3AF"/>
                </a:solidFill>
              </a:defRPr>
            </a:pPr>
            <a:r>
              <a:t>[题库选择区: 拖拽或搜索题目添加到试卷]</a:t>
            </a:r>
          </a:p>
        </p:txBody>
      </p:sp>
      <p:sp>
        <p:nvSpPr>
          <p:cNvPr id="88" name="Rectangle 87"/>
          <p:cNvSpPr/>
          <p:nvPr/>
        </p:nvSpPr>
        <p:spPr>
          <a:xfrm>
            <a:off x="5943600" y="4846320"/>
            <a:ext cx="5760720" cy="1280160"/>
          </a:xfrm>
          <a:prstGeom prst="rect">
            <a:avLst/>
          </a:prstGeom>
          <a:solidFill>
            <a:srgbClr val="FAFAFA"/>
          </a:solidFill>
          <a:ln w="12700">
            <a:solidFill>
              <a:srgbClr val="D1D5DB"/>
            </a:solidFill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5989320" y="4864608"/>
            <a:ext cx="5669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9CA3AF"/>
                </a:solidFill>
              </a:defRPr>
            </a:pPr>
            <a:r>
              <a:t>[试卷构建区: 已选题目列表 (支持拖拽排序、设置分值)]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731520"/>
          </a:xfrm>
          <a:prstGeom prst="roundRect">
            <a:avLst/>
          </a:prstGeom>
          <a:solidFill>
            <a:srgbClr val="2F5496"/>
          </a:solidFill>
          <a:ln w="12700">
            <a:solidFill>
              <a:srgbClr val="2F54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</a:defRPr>
            </a:pPr>
            <a:r>
              <a:t>管理后台 / Admin Panel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3093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CA3AF"/>
                </a:solidFill>
              </a:defRPr>
            </a:pPr>
            <a:r>
              <a:t>AI+题库智能教学平台 | UI设计稿 v1.1 | 2026.10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005840"/>
            <a:ext cx="2011680" cy="365760"/>
          </a:xfrm>
          <a:prstGeom prst="round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用户管理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651760" y="1005840"/>
            <a:ext cx="2011680" cy="365760"/>
          </a:xfrm>
          <a:prstGeom prst="roundRect">
            <a:avLst/>
          </a:prstGeom>
          <a:solidFill>
            <a:srgbClr val="6B72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API配置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846320" y="1005840"/>
            <a:ext cx="2011680" cy="365760"/>
          </a:xfrm>
          <a:prstGeom prst="roundRect">
            <a:avLst/>
          </a:prstGeom>
          <a:solidFill>
            <a:srgbClr val="6B72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审计日志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040879" y="1005840"/>
            <a:ext cx="2011680" cy="365760"/>
          </a:xfrm>
          <a:prstGeom prst="roundRect">
            <a:avLst/>
          </a:prstGeom>
          <a:solidFill>
            <a:srgbClr val="6B72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系统监控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235440" y="1005840"/>
            <a:ext cx="2011680" cy="365760"/>
          </a:xfrm>
          <a:prstGeom prst="roundRect">
            <a:avLst/>
          </a:prstGeom>
          <a:solidFill>
            <a:srgbClr val="6B72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数据备份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164592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D2A3A"/>
                </a:solidFill>
              </a:defRPr>
            </a:pPr>
            <a:r>
              <a:t>用户列表 (3个角色: admin/teacher/student)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2103120"/>
            <a:ext cx="457200" cy="365760"/>
          </a:xfrm>
          <a:prstGeom prst="roundRect">
            <a:avLst/>
          </a:prstGeom>
          <a:solidFill>
            <a:srgbClr val="EEF2FF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" y="2121408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D2A3A"/>
                </a:solidFill>
              </a:defRPr>
            </a:pPr>
            <a:r>
              <a:t>ID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14400" y="2103120"/>
            <a:ext cx="1371600" cy="365760"/>
          </a:xfrm>
          <a:prstGeom prst="roundRect">
            <a:avLst/>
          </a:prstGeom>
          <a:solidFill>
            <a:srgbClr val="EEF2FF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0120" y="2121408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D2A3A"/>
                </a:solidFill>
              </a:defRPr>
            </a:pPr>
            <a:r>
              <a:t>用户名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286000" y="2103120"/>
            <a:ext cx="1371600" cy="365760"/>
          </a:xfrm>
          <a:prstGeom prst="roundRect">
            <a:avLst/>
          </a:prstGeom>
          <a:solidFill>
            <a:srgbClr val="EEF2FF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331720" y="2121408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D2A3A"/>
                </a:solidFill>
              </a:defRPr>
            </a:pPr>
            <a:r>
              <a:t>姓名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657600" y="2103120"/>
            <a:ext cx="914400" cy="365760"/>
          </a:xfrm>
          <a:prstGeom prst="roundRect">
            <a:avLst/>
          </a:prstGeom>
          <a:solidFill>
            <a:srgbClr val="EEF2FF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703320" y="2121408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D2A3A"/>
                </a:solidFill>
              </a:defRPr>
            </a:pPr>
            <a:r>
              <a:t>角色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72000" y="2103120"/>
            <a:ext cx="1828800" cy="365760"/>
          </a:xfrm>
          <a:prstGeom prst="roundRect">
            <a:avLst/>
          </a:prstGeom>
          <a:solidFill>
            <a:srgbClr val="EEF2FF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617720" y="2121408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D2A3A"/>
                </a:solidFill>
              </a:defRPr>
            </a:pPr>
            <a:r>
              <a:t>邮箱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0" y="2103120"/>
            <a:ext cx="731520" cy="365760"/>
          </a:xfrm>
          <a:prstGeom prst="roundRect">
            <a:avLst/>
          </a:prstGeom>
          <a:solidFill>
            <a:srgbClr val="EEF2FF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2121408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D2A3A"/>
                </a:solidFill>
              </a:defRPr>
            </a:pPr>
            <a:r>
              <a:t>状态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132320" y="2103120"/>
            <a:ext cx="1645920" cy="365760"/>
          </a:xfrm>
          <a:prstGeom prst="roundRect">
            <a:avLst/>
          </a:prstGeom>
          <a:solidFill>
            <a:srgbClr val="EEF2FF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178040" y="2121408"/>
            <a:ext cx="155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D2A3A"/>
                </a:solidFill>
              </a:defRPr>
            </a:pPr>
            <a:r>
              <a:t>创建时间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778240" y="2103120"/>
            <a:ext cx="1828800" cy="365760"/>
          </a:xfrm>
          <a:prstGeom prst="roundRect">
            <a:avLst/>
          </a:prstGeom>
          <a:solidFill>
            <a:srgbClr val="EEF2FF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823960" y="2121408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D2A3A"/>
                </a:solidFill>
              </a:defRPr>
            </a:pPr>
            <a:r>
              <a:t>操作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57200" y="2514600"/>
            <a:ext cx="457200" cy="365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02920" y="2532888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D2A3A"/>
                </a:solidFill>
              </a:defRPr>
            </a:pPr>
            <a:r>
              <a:t>1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14400" y="2514600"/>
            <a:ext cx="1371600" cy="365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60120" y="2532888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D2A3A"/>
                </a:solidFill>
              </a:defRPr>
            </a:pPr>
            <a:r>
              <a:t>admin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2286000" y="2514600"/>
            <a:ext cx="1371600" cy="365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2331720" y="2532888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D2A3A"/>
                </a:solidFill>
              </a:defRPr>
            </a:pPr>
            <a:r>
              <a:t>系统管理员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3657600" y="2514600"/>
            <a:ext cx="914400" cy="365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703320" y="2532888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D2A3A"/>
                </a:solidFill>
              </a:defRPr>
            </a:pPr>
            <a:r>
              <a:t>管理员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4572000" y="2514600"/>
            <a:ext cx="1828800" cy="365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617720" y="2532888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D2A3A"/>
                </a:solidFill>
              </a:defRPr>
            </a:pPr>
            <a:r>
              <a:t>admin@school.edu.cn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400800" y="2514600"/>
            <a:ext cx="731520" cy="365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446520" y="2532888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2C55E"/>
                </a:solidFill>
              </a:defRPr>
            </a:pPr>
            <a:r>
              <a:t>活跃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7132320" y="2514600"/>
            <a:ext cx="1645920" cy="365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178040" y="2532888"/>
            <a:ext cx="155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2C55E"/>
                </a:solidFill>
              </a:defRPr>
            </a:pPr>
            <a:r>
              <a:t>2026-09-01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8778240" y="2514600"/>
            <a:ext cx="1828800" cy="365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ounded Rectangle 41"/>
          <p:cNvSpPr/>
          <p:nvPr/>
        </p:nvSpPr>
        <p:spPr>
          <a:xfrm>
            <a:off x="8503920" y="2542032"/>
            <a:ext cx="640080" cy="292608"/>
          </a:xfrm>
          <a:prstGeom prst="round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编辑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9235440" y="2542032"/>
            <a:ext cx="822960" cy="292608"/>
          </a:xfrm>
          <a:prstGeom prst="roundRect">
            <a:avLst/>
          </a:prstGeom>
          <a:solidFill>
            <a:srgbClr val="6B72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重置密码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457200" y="2926080"/>
            <a:ext cx="457200" cy="365760"/>
          </a:xfrm>
          <a:prstGeom prst="roundRect">
            <a:avLst/>
          </a:prstGeom>
          <a:solidFill>
            <a:srgbClr val="FAFBFC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502920" y="2944368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D2A3A"/>
                </a:solidFill>
              </a:defRPr>
            </a:pPr>
            <a:r>
              <a:t>2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914400" y="2926080"/>
            <a:ext cx="1371600" cy="365760"/>
          </a:xfrm>
          <a:prstGeom prst="roundRect">
            <a:avLst/>
          </a:prstGeom>
          <a:solidFill>
            <a:srgbClr val="FAFBFC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960120" y="2944368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D2A3A"/>
                </a:solidFill>
              </a:defRPr>
            </a:pPr>
            <a:r>
              <a:t>teacher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2286000" y="2926080"/>
            <a:ext cx="1371600" cy="365760"/>
          </a:xfrm>
          <a:prstGeom prst="roundRect">
            <a:avLst/>
          </a:prstGeom>
          <a:solidFill>
            <a:srgbClr val="FAFBFC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2331720" y="2944368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D2A3A"/>
                </a:solidFill>
              </a:defRPr>
            </a:pPr>
            <a:r>
              <a:t>张老师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3657600" y="2926080"/>
            <a:ext cx="914400" cy="365760"/>
          </a:xfrm>
          <a:prstGeom prst="roundRect">
            <a:avLst/>
          </a:prstGeom>
          <a:solidFill>
            <a:srgbClr val="FAFBFC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3703320" y="2944368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D2A3A"/>
                </a:solidFill>
              </a:defRPr>
            </a:pPr>
            <a:r>
              <a:t>教师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4572000" y="2926080"/>
            <a:ext cx="1828800" cy="365760"/>
          </a:xfrm>
          <a:prstGeom prst="roundRect">
            <a:avLst/>
          </a:prstGeom>
          <a:solidFill>
            <a:srgbClr val="FAFBFC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4617720" y="2944368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D2A3A"/>
                </a:solidFill>
              </a:defRPr>
            </a:pPr>
            <a:r>
              <a:t>zhang@school.edu.cn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6400800" y="2926080"/>
            <a:ext cx="731520" cy="365760"/>
          </a:xfrm>
          <a:prstGeom prst="roundRect">
            <a:avLst/>
          </a:prstGeom>
          <a:solidFill>
            <a:srgbClr val="FAFBFC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6446520" y="2944368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2C55E"/>
                </a:solidFill>
              </a:defRPr>
            </a:pPr>
            <a:r>
              <a:t>活跃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7132320" y="2926080"/>
            <a:ext cx="1645920" cy="365760"/>
          </a:xfrm>
          <a:prstGeom prst="roundRect">
            <a:avLst/>
          </a:prstGeom>
          <a:solidFill>
            <a:srgbClr val="FAFBFC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7178040" y="2944368"/>
            <a:ext cx="155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2C55E"/>
                </a:solidFill>
              </a:defRPr>
            </a:pPr>
            <a:r>
              <a:t>2026-09-01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8778240" y="2926080"/>
            <a:ext cx="1828800" cy="365760"/>
          </a:xfrm>
          <a:prstGeom prst="roundRect">
            <a:avLst/>
          </a:prstGeom>
          <a:solidFill>
            <a:srgbClr val="FAFBFC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ounded Rectangle 58"/>
          <p:cNvSpPr/>
          <p:nvPr/>
        </p:nvSpPr>
        <p:spPr>
          <a:xfrm>
            <a:off x="8503920" y="2953512"/>
            <a:ext cx="640080" cy="292608"/>
          </a:xfrm>
          <a:prstGeom prst="round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编辑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9235440" y="2953512"/>
            <a:ext cx="822960" cy="292608"/>
          </a:xfrm>
          <a:prstGeom prst="roundRect">
            <a:avLst/>
          </a:prstGeom>
          <a:solidFill>
            <a:srgbClr val="6B72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重置密码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457200" y="3337560"/>
            <a:ext cx="457200" cy="365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502920" y="3355848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D2A3A"/>
                </a:solidFill>
              </a:defRPr>
            </a:pPr>
            <a:r>
              <a:t>3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914400" y="3337560"/>
            <a:ext cx="1371600" cy="365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960120" y="3355848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D2A3A"/>
                </a:solidFill>
              </a:defRPr>
            </a:pPr>
            <a:r>
              <a:t>student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2286000" y="3337560"/>
            <a:ext cx="1371600" cy="365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2331720" y="3355848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D2A3A"/>
                </a:solidFill>
              </a:defRPr>
            </a:pPr>
            <a:r>
              <a:t>李同学</a:t>
            </a:r>
          </a:p>
        </p:txBody>
      </p:sp>
      <p:sp>
        <p:nvSpPr>
          <p:cNvPr id="67" name="Rounded Rectangle 66"/>
          <p:cNvSpPr/>
          <p:nvPr/>
        </p:nvSpPr>
        <p:spPr>
          <a:xfrm>
            <a:off x="3657600" y="3337560"/>
            <a:ext cx="914400" cy="365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3703320" y="3355848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D2A3A"/>
                </a:solidFill>
              </a:defRPr>
            </a:pPr>
            <a:r>
              <a:t>学生</a:t>
            </a:r>
          </a:p>
        </p:txBody>
      </p:sp>
      <p:sp>
        <p:nvSpPr>
          <p:cNvPr id="69" name="Rounded Rectangle 68"/>
          <p:cNvSpPr/>
          <p:nvPr/>
        </p:nvSpPr>
        <p:spPr>
          <a:xfrm>
            <a:off x="4572000" y="3337560"/>
            <a:ext cx="1828800" cy="365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4617720" y="3355848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D2A3A"/>
                </a:solidFill>
              </a:defRPr>
            </a:pPr>
            <a:r>
              <a:t>li@school.edu.cn</a:t>
            </a:r>
          </a:p>
        </p:txBody>
      </p:sp>
      <p:sp>
        <p:nvSpPr>
          <p:cNvPr id="71" name="Rounded Rectangle 70"/>
          <p:cNvSpPr/>
          <p:nvPr/>
        </p:nvSpPr>
        <p:spPr>
          <a:xfrm>
            <a:off x="6400800" y="3337560"/>
            <a:ext cx="731520" cy="365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6446520" y="3355848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2C55E"/>
                </a:solidFill>
              </a:defRPr>
            </a:pPr>
            <a:r>
              <a:t>活跃</a:t>
            </a:r>
          </a:p>
        </p:txBody>
      </p:sp>
      <p:sp>
        <p:nvSpPr>
          <p:cNvPr id="73" name="Rounded Rectangle 72"/>
          <p:cNvSpPr/>
          <p:nvPr/>
        </p:nvSpPr>
        <p:spPr>
          <a:xfrm>
            <a:off x="7132320" y="3337560"/>
            <a:ext cx="1645920" cy="365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7178040" y="3355848"/>
            <a:ext cx="155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2C55E"/>
                </a:solidFill>
              </a:defRPr>
            </a:pPr>
            <a:r>
              <a:t>2026-09-01</a:t>
            </a:r>
          </a:p>
        </p:txBody>
      </p:sp>
      <p:sp>
        <p:nvSpPr>
          <p:cNvPr id="75" name="Rounded Rectangle 74"/>
          <p:cNvSpPr/>
          <p:nvPr/>
        </p:nvSpPr>
        <p:spPr>
          <a:xfrm>
            <a:off x="8778240" y="3337560"/>
            <a:ext cx="1828800" cy="365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ounded Rectangle 75"/>
          <p:cNvSpPr/>
          <p:nvPr/>
        </p:nvSpPr>
        <p:spPr>
          <a:xfrm>
            <a:off x="8503920" y="3364992"/>
            <a:ext cx="640080" cy="292608"/>
          </a:xfrm>
          <a:prstGeom prst="round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编辑</a:t>
            </a:r>
          </a:p>
        </p:txBody>
      </p:sp>
      <p:sp>
        <p:nvSpPr>
          <p:cNvPr id="77" name="Rounded Rectangle 76"/>
          <p:cNvSpPr/>
          <p:nvPr/>
        </p:nvSpPr>
        <p:spPr>
          <a:xfrm>
            <a:off x="9235440" y="3364992"/>
            <a:ext cx="822960" cy="292608"/>
          </a:xfrm>
          <a:prstGeom prst="roundRect">
            <a:avLst/>
          </a:prstGeom>
          <a:solidFill>
            <a:srgbClr val="6B72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重置密码</a:t>
            </a:r>
          </a:p>
        </p:txBody>
      </p:sp>
      <p:sp>
        <p:nvSpPr>
          <p:cNvPr id="78" name="Rounded Rectangle 77"/>
          <p:cNvSpPr/>
          <p:nvPr/>
        </p:nvSpPr>
        <p:spPr>
          <a:xfrm>
            <a:off x="457200" y="3749039"/>
            <a:ext cx="457200" cy="365760"/>
          </a:xfrm>
          <a:prstGeom prst="roundRect">
            <a:avLst/>
          </a:prstGeom>
          <a:solidFill>
            <a:srgbClr val="FAFBFC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502920" y="3767327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D2A3A"/>
                </a:solidFill>
              </a:defRPr>
            </a:pPr>
            <a:r>
              <a:t>4</a:t>
            </a:r>
          </a:p>
        </p:txBody>
      </p:sp>
      <p:sp>
        <p:nvSpPr>
          <p:cNvPr id="80" name="Rounded Rectangle 79"/>
          <p:cNvSpPr/>
          <p:nvPr/>
        </p:nvSpPr>
        <p:spPr>
          <a:xfrm>
            <a:off x="914400" y="3749039"/>
            <a:ext cx="1371600" cy="365760"/>
          </a:xfrm>
          <a:prstGeom prst="roundRect">
            <a:avLst/>
          </a:prstGeom>
          <a:solidFill>
            <a:srgbClr val="FAFBFC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960120" y="3767327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D2A3A"/>
                </a:solidFill>
              </a:defRPr>
            </a:pPr>
            <a:r>
              <a:t>student2</a:t>
            </a:r>
          </a:p>
        </p:txBody>
      </p:sp>
      <p:sp>
        <p:nvSpPr>
          <p:cNvPr id="82" name="Rounded Rectangle 81"/>
          <p:cNvSpPr/>
          <p:nvPr/>
        </p:nvSpPr>
        <p:spPr>
          <a:xfrm>
            <a:off x="2286000" y="3749039"/>
            <a:ext cx="1371600" cy="365760"/>
          </a:xfrm>
          <a:prstGeom prst="roundRect">
            <a:avLst/>
          </a:prstGeom>
          <a:solidFill>
            <a:srgbClr val="FAFBFC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2331720" y="3767327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D2A3A"/>
                </a:solidFill>
              </a:defRPr>
            </a:pPr>
            <a:r>
              <a:t>王同学</a:t>
            </a:r>
          </a:p>
        </p:txBody>
      </p:sp>
      <p:sp>
        <p:nvSpPr>
          <p:cNvPr id="84" name="Rounded Rectangle 83"/>
          <p:cNvSpPr/>
          <p:nvPr/>
        </p:nvSpPr>
        <p:spPr>
          <a:xfrm>
            <a:off x="3657600" y="3749039"/>
            <a:ext cx="914400" cy="365760"/>
          </a:xfrm>
          <a:prstGeom prst="roundRect">
            <a:avLst/>
          </a:prstGeom>
          <a:solidFill>
            <a:srgbClr val="FAFBFC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3703320" y="3767327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D2A3A"/>
                </a:solidFill>
              </a:defRPr>
            </a:pPr>
            <a:r>
              <a:t>学生</a:t>
            </a:r>
          </a:p>
        </p:txBody>
      </p:sp>
      <p:sp>
        <p:nvSpPr>
          <p:cNvPr id="86" name="Rounded Rectangle 85"/>
          <p:cNvSpPr/>
          <p:nvPr/>
        </p:nvSpPr>
        <p:spPr>
          <a:xfrm>
            <a:off x="4572000" y="3749039"/>
            <a:ext cx="1828800" cy="365760"/>
          </a:xfrm>
          <a:prstGeom prst="roundRect">
            <a:avLst/>
          </a:prstGeom>
          <a:solidFill>
            <a:srgbClr val="FAFBFC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4617720" y="3767327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D2A3A"/>
                </a:solidFill>
              </a:defRPr>
            </a:pPr>
            <a:r>
              <a:t>wang@school.edu.cn</a:t>
            </a:r>
          </a:p>
        </p:txBody>
      </p:sp>
      <p:sp>
        <p:nvSpPr>
          <p:cNvPr id="88" name="Rounded Rectangle 87"/>
          <p:cNvSpPr/>
          <p:nvPr/>
        </p:nvSpPr>
        <p:spPr>
          <a:xfrm>
            <a:off x="6400800" y="3749039"/>
            <a:ext cx="731520" cy="365760"/>
          </a:xfrm>
          <a:prstGeom prst="roundRect">
            <a:avLst/>
          </a:prstGeom>
          <a:solidFill>
            <a:srgbClr val="FAFBFC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6446520" y="3767327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F4444"/>
                </a:solidFill>
              </a:defRPr>
            </a:pPr>
            <a:r>
              <a:t>已禁用</a:t>
            </a:r>
          </a:p>
        </p:txBody>
      </p:sp>
      <p:sp>
        <p:nvSpPr>
          <p:cNvPr id="90" name="Rounded Rectangle 89"/>
          <p:cNvSpPr/>
          <p:nvPr/>
        </p:nvSpPr>
        <p:spPr>
          <a:xfrm>
            <a:off x="7132320" y="3749039"/>
            <a:ext cx="1645920" cy="365760"/>
          </a:xfrm>
          <a:prstGeom prst="roundRect">
            <a:avLst/>
          </a:prstGeom>
          <a:solidFill>
            <a:srgbClr val="FAFBFC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7178040" y="3767327"/>
            <a:ext cx="155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F4444"/>
                </a:solidFill>
              </a:defRPr>
            </a:pPr>
            <a:r>
              <a:t>2026-09-05</a:t>
            </a:r>
          </a:p>
        </p:txBody>
      </p:sp>
      <p:sp>
        <p:nvSpPr>
          <p:cNvPr id="92" name="Rounded Rectangle 91"/>
          <p:cNvSpPr/>
          <p:nvPr/>
        </p:nvSpPr>
        <p:spPr>
          <a:xfrm>
            <a:off x="8778240" y="3749039"/>
            <a:ext cx="1828800" cy="365760"/>
          </a:xfrm>
          <a:prstGeom prst="roundRect">
            <a:avLst/>
          </a:prstGeom>
          <a:solidFill>
            <a:srgbClr val="FAFBFC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Rounded Rectangle 92"/>
          <p:cNvSpPr/>
          <p:nvPr/>
        </p:nvSpPr>
        <p:spPr>
          <a:xfrm>
            <a:off x="8503920" y="3776471"/>
            <a:ext cx="640080" cy="292608"/>
          </a:xfrm>
          <a:prstGeom prst="round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编辑</a:t>
            </a:r>
          </a:p>
        </p:txBody>
      </p:sp>
      <p:sp>
        <p:nvSpPr>
          <p:cNvPr id="94" name="Rounded Rectangle 93"/>
          <p:cNvSpPr/>
          <p:nvPr/>
        </p:nvSpPr>
        <p:spPr>
          <a:xfrm>
            <a:off x="9235440" y="3776471"/>
            <a:ext cx="822960" cy="292608"/>
          </a:xfrm>
          <a:prstGeom prst="roundRect">
            <a:avLst/>
          </a:prstGeom>
          <a:solidFill>
            <a:srgbClr val="6B72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重置密码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457200" y="438912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D2A3A"/>
                </a:solidFill>
              </a:defRPr>
            </a:pPr>
            <a:r>
              <a:t>审计日志 (最近20条)</a:t>
            </a:r>
          </a:p>
        </p:txBody>
      </p:sp>
      <p:sp>
        <p:nvSpPr>
          <p:cNvPr id="96" name="Rectangle 95"/>
          <p:cNvSpPr/>
          <p:nvPr/>
        </p:nvSpPr>
        <p:spPr>
          <a:xfrm>
            <a:off x="457200" y="4846320"/>
            <a:ext cx="11247120" cy="1371600"/>
          </a:xfrm>
          <a:prstGeom prst="rect">
            <a:avLst/>
          </a:prstGeom>
          <a:solidFill>
            <a:srgbClr val="FAFAFA"/>
          </a:solidFill>
          <a:ln w="12700">
            <a:solidFill>
              <a:srgbClr val="D1D5DB"/>
            </a:solidFill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502920" y="4864608"/>
            <a:ext cx="111556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9CA3AF"/>
                </a:solidFill>
              </a:defRPr>
            </a:pPr>
            <a:r>
              <a:t>[时间 | 用户 | 操作类型 | 详情 | IP地址 | 结果</a:t>
            </a:r>
            <a:br/>
            <a:r>
              <a:t>10-10 14:30 | student | AI_CALL | 题目#001 AI解答 | 192.168.1.100 | 成功</a:t>
            </a:r>
            <a:br/>
            <a:r>
              <a:t>10-10 13:15 | teacher | CREATE_EXAM | 创建试卷 E05 | 192.168.1.50 | 成功</a:t>
            </a:r>
            <a:br/>
            <a:r>
              <a:t>10-10 11:00 | admin | UPDATE_CONFIG | 修改API额度 | 192.168.1.1 | 成功</a:t>
            </a:r>
            <a:br/>
            <a:r>
              <a:t>]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731520"/>
          </a:xfrm>
          <a:prstGeom prst="roundRect">
            <a:avLst/>
          </a:prstGeom>
          <a:solidFill>
            <a:srgbClr val="2F5496"/>
          </a:solidFill>
          <a:ln w="12700">
            <a:solidFill>
              <a:srgbClr val="2F54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</a:defRPr>
            </a:pPr>
            <a:r>
              <a:t>响应式设计 &amp; 移动端适配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3093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CA3AF"/>
                </a:solidFill>
              </a:defRPr>
            </a:pPr>
            <a:r>
              <a:t>AI+题库智能教学平台 | UI设计稿 v1.1 | 2026.10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058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D2A3A"/>
                </a:solidFill>
              </a:defRPr>
            </a:pPr>
            <a:r>
              <a:t>适配策略: 纯 CSS Media Query | 主流断点: 768px (平板) / 480px (手机)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64592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D2A3A"/>
                </a:solidFill>
              </a:defRPr>
            </a:pPr>
            <a:r>
              <a:t>桌面端 (≥1024px)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011680"/>
            <a:ext cx="5029200" cy="3200400"/>
          </a:xfrm>
          <a:prstGeom prst="rect">
            <a:avLst/>
          </a:prstGeom>
          <a:solidFill>
            <a:srgbClr val="FAFAFA"/>
          </a:solidFill>
          <a:ln w="12700">
            <a:solidFill>
              <a:srgbClr val="D1D5DB"/>
            </a:solidFill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2029968"/>
            <a:ext cx="49377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9CA3AF"/>
                </a:solidFill>
              </a:defRPr>
            </a:pPr>
            <a:r>
              <a:t>[侧边栏 + 主内容区 | 多列表格 | 卡片网格 | 完整功能]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0" y="164592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D2A3A"/>
                </a:solidFill>
              </a:defRPr>
            </a:pPr>
            <a:r>
              <a:t>平板端 (768-1023px)</a:t>
            </a:r>
          </a:p>
        </p:txBody>
      </p:sp>
      <p:sp>
        <p:nvSpPr>
          <p:cNvPr id="10" name="Rectangle 9"/>
          <p:cNvSpPr/>
          <p:nvPr/>
        </p:nvSpPr>
        <p:spPr>
          <a:xfrm>
            <a:off x="5943600" y="2011680"/>
            <a:ext cx="2743200" cy="3200400"/>
          </a:xfrm>
          <a:prstGeom prst="rect">
            <a:avLst/>
          </a:prstGeom>
          <a:solidFill>
            <a:srgbClr val="FAFAFA"/>
          </a:solidFill>
          <a:ln w="12700">
            <a:solidFill>
              <a:srgbClr val="D1D5DB"/>
            </a:solidFill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89320" y="2029968"/>
            <a:ext cx="26517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9CA3AF"/>
                </a:solidFill>
              </a:defRPr>
            </a:pPr>
            <a:r>
              <a:t>[折叠侧边栏 | 双列表格 | 卡片堆叠 | 部分功能收折]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0" y="164592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D2A3A"/>
                </a:solidFill>
              </a:defRPr>
            </a:pPr>
            <a:r>
              <a:t>手机端 (&lt;768px)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144000" y="2011680"/>
            <a:ext cx="2560320" cy="3200400"/>
          </a:xfrm>
          <a:prstGeom prst="rect">
            <a:avLst/>
          </a:prstGeom>
          <a:solidFill>
            <a:srgbClr val="FAFAFA"/>
          </a:solidFill>
          <a:ln w="12700">
            <a:solidFill>
              <a:srgbClr val="D1D5DB"/>
            </a:solidFill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89720" y="2029968"/>
            <a:ext cx="2468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9CA3AF"/>
                </a:solidFill>
              </a:defRPr>
            </a:pPr>
            <a:r>
              <a:t>[底部导航 | 单列布局 | 卡片全宽 | 核心功能]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548640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D2A3A"/>
                </a:solidFill>
              </a:defRPr>
            </a:pPr>
            <a:r>
              <a:t>页面导航结构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58521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472C4"/>
                </a:solidFill>
              </a:defRPr>
            </a:pPr>
            <a:r>
              <a:t>首页 → 题库列表 → 题目详情(+AI对话) → 试卷列表 → 试卷编辑 → 管理后台 → 个人中心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F549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182880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t>UI 设计稿总结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28800" y="3200400"/>
            <a:ext cx="82296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FFFFFF"/>
                </a:solidFill>
              </a:defRPr>
            </a:pPr>
            <a:r>
              <a:t>✅ 7 个核心页面设计: 登录 / 仪表盘 / 题库 / 题目详情+AI / 试卷 / 管理后台 / 响应式</a:t>
            </a:r>
            <a:br/>
            <a:br/>
            <a:r>
              <a:t>✅ 设计系统: 蓝白配色 | 3级字体层级 | 6个核心组件</a:t>
            </a:r>
            <a:br/>
            <a:br/>
            <a:r>
              <a:t>✅ 技术实现: 纯 HTML/CSS/JS | 零构建工具链 | C 后端静态托管</a:t>
            </a:r>
            <a:br/>
            <a:br/>
            <a:r>
              <a:t>✅ 响应式适配: 桌面/平板/手机三端覆盖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576072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93C5FD"/>
                </a:solidFill>
              </a:defRPr>
            </a:pPr>
            <a:r>
              <a:t>前端开发: 曹渲东、王英杰 | 设计参考: AI题库项目整体预期功能说明书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731520"/>
          </a:xfrm>
          <a:prstGeom prst="roundRect">
            <a:avLst/>
          </a:prstGeom>
          <a:solidFill>
            <a:srgbClr val="2F5496"/>
          </a:solidFill>
          <a:ln w="12700">
            <a:solidFill>
              <a:srgbClr val="2F549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</a:defRPr>
            </a:pPr>
            <a:r>
              <a:t>实现进度对照 / Implementation Status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3093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CA3AF"/>
                </a:solidFill>
              </a:defRPr>
            </a:pPr>
            <a:r>
              <a:t>AI+题库智能教学平台 | UI设计稿 v1.1 | 2026.10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CA3AF"/>
                </a:solidFill>
              </a:defRPr>
            </a:pPr>
            <a:r>
              <a:t>设计稿页面与当前代码实现（main 分支，2026-10-13）对照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371600"/>
            <a:ext cx="2377440" cy="475488"/>
          </a:xfrm>
          <a:prstGeom prst="roundRect">
            <a:avLst/>
          </a:prstGeom>
          <a:solidFill>
            <a:srgbClr val="EEF2FF"/>
          </a:solidFill>
          <a:ln w="12700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1463040"/>
            <a:ext cx="215798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2F5496"/>
                </a:solidFill>
              </a:defRPr>
            </a:pPr>
            <a:r>
              <a:t>页面/模块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834640" y="1371600"/>
            <a:ext cx="1005840" cy="475488"/>
          </a:xfrm>
          <a:prstGeom prst="roundRect">
            <a:avLst/>
          </a:prstGeom>
          <a:solidFill>
            <a:srgbClr val="EEF2FF"/>
          </a:solidFill>
          <a:ln w="12700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944368" y="1463040"/>
            <a:ext cx="78638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2F5496"/>
                </a:solidFill>
              </a:defRPr>
            </a:pPr>
            <a:r>
              <a:t>设计稿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840480" y="1371600"/>
            <a:ext cx="7863840" cy="475488"/>
          </a:xfrm>
          <a:prstGeom prst="roundRect">
            <a:avLst/>
          </a:prstGeom>
          <a:solidFill>
            <a:srgbClr val="EEF2FF"/>
          </a:solidFill>
          <a:ln w="12700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950208" y="1463040"/>
            <a:ext cx="764438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2F5496"/>
                </a:solidFill>
              </a:defRPr>
            </a:pPr>
            <a:r>
              <a:t>实现状态（2026-10-13）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1847088"/>
            <a:ext cx="2377440" cy="47548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66928" y="1938528"/>
            <a:ext cx="215798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D2A3A"/>
                </a:solidFill>
              </a:defRPr>
            </a:pPr>
            <a:r>
              <a:t>登录页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834640" y="1847088"/>
            <a:ext cx="1005840" cy="47548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944368" y="1938528"/>
            <a:ext cx="78638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D2A3A"/>
                </a:solidFill>
              </a:defRPr>
            </a:pPr>
            <a:r>
              <a:t>第 3 页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840480" y="1847088"/>
            <a:ext cx="7863840" cy="47548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950208" y="1938528"/>
            <a:ext cx="764438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D2A3A"/>
                </a:solidFill>
              </a:defRPr>
            </a:pPr>
            <a:r>
              <a:t>✅ 已实现 web/js/auth.js（登录调 POST /api/v1/auth/login，token 存 localStorage）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2322576"/>
            <a:ext cx="2377440" cy="475488"/>
          </a:xfrm>
          <a:prstGeom prst="roundRect">
            <a:avLst/>
          </a:prstGeom>
          <a:solidFill>
            <a:srgbClr val="FAFBFD"/>
          </a:solidFill>
          <a:ln w="12700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66928" y="2414016"/>
            <a:ext cx="215798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D2A3A"/>
                </a:solidFill>
              </a:defRPr>
            </a:pPr>
            <a:r>
              <a:t>题目列表页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2834640" y="2322576"/>
            <a:ext cx="1005840" cy="475488"/>
          </a:xfrm>
          <a:prstGeom prst="roundRect">
            <a:avLst/>
          </a:prstGeom>
          <a:solidFill>
            <a:srgbClr val="FAFBFD"/>
          </a:solidFill>
          <a:ln w="12700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944368" y="2414016"/>
            <a:ext cx="78638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D2A3A"/>
                </a:solidFill>
              </a:defRPr>
            </a:pPr>
            <a:r>
              <a:t>第 5 页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840480" y="2322576"/>
            <a:ext cx="7863840" cy="475488"/>
          </a:xfrm>
          <a:prstGeom prst="roundRect">
            <a:avLst/>
          </a:prstGeom>
          <a:solidFill>
            <a:srgbClr val="FAFBFD"/>
          </a:solidFill>
          <a:ln w="12700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950208" y="2414016"/>
            <a:ext cx="764438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D2A3A"/>
                </a:solidFill>
              </a:defRPr>
            </a:pPr>
            <a:r>
              <a:t>✅ 已实现 web/js/questions.js（GET /api/v1/questions，按返回 id 渲染，5 道固定题）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57200" y="2798064"/>
            <a:ext cx="2377440" cy="47548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66928" y="2889504"/>
            <a:ext cx="215798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D2A3A"/>
                </a:solidFill>
              </a:defRPr>
            </a:pPr>
            <a:r>
              <a:t>题目详情 + AI 对话页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2834640" y="2798064"/>
            <a:ext cx="1005840" cy="47548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944368" y="2889504"/>
            <a:ext cx="78638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D2A3A"/>
                </a:solidFill>
              </a:defRPr>
            </a:pPr>
            <a:r>
              <a:t>第 6 页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3840480" y="2798064"/>
            <a:ext cx="7863840" cy="47548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950208" y="2889504"/>
            <a:ext cx="764438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D2A3A"/>
                </a:solidFill>
              </a:defRPr>
            </a:pPr>
            <a:r>
              <a:t>✅ 已实现 web/js/chat.js（AI 接口未就绪时降级演示数据并标注「非真实 AI 生成」）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57200" y="3273552"/>
            <a:ext cx="2377440" cy="475488"/>
          </a:xfrm>
          <a:prstGeom prst="roundRect">
            <a:avLst/>
          </a:prstGeom>
          <a:solidFill>
            <a:srgbClr val="FAFBFD"/>
          </a:solidFill>
          <a:ln w="12700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66928" y="3364992"/>
            <a:ext cx="215798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D2A3A"/>
                </a:solidFill>
              </a:defRPr>
            </a:pPr>
            <a:r>
              <a:t>仪表盘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2834640" y="3273552"/>
            <a:ext cx="1005840" cy="475488"/>
          </a:xfrm>
          <a:prstGeom prst="roundRect">
            <a:avLst/>
          </a:prstGeom>
          <a:solidFill>
            <a:srgbClr val="FAFBFD"/>
          </a:solidFill>
          <a:ln w="12700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944368" y="3364992"/>
            <a:ext cx="78638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D2A3A"/>
                </a:solidFill>
              </a:defRPr>
            </a:pPr>
            <a:r>
              <a:t>第 4 页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3840480" y="3273552"/>
            <a:ext cx="7863840" cy="475488"/>
          </a:xfrm>
          <a:prstGeom prst="roundRect">
            <a:avLst/>
          </a:prstGeom>
          <a:solidFill>
            <a:srgbClr val="FAFBFD"/>
          </a:solidFill>
          <a:ln w="12700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950208" y="3364992"/>
            <a:ext cx="764438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D2A3A"/>
                </a:solidFill>
              </a:defRPr>
            </a:pPr>
            <a:r>
              <a:t>⬜ 规划中（Sprint 2+，依赖题目写接口与统计）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457200" y="3749040"/>
            <a:ext cx="2377440" cy="47548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66928" y="3840480"/>
            <a:ext cx="215798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D2A3A"/>
                </a:solidFill>
              </a:defRPr>
            </a:pPr>
            <a:r>
              <a:t>试卷管理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2834640" y="3749040"/>
            <a:ext cx="1005840" cy="47548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2944368" y="3840480"/>
            <a:ext cx="78638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D2A3A"/>
                </a:solidFill>
              </a:defRPr>
            </a:pPr>
            <a:r>
              <a:t>第 7 页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3840480" y="3749040"/>
            <a:ext cx="7863840" cy="47548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950208" y="3840480"/>
            <a:ext cx="764438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D2A3A"/>
                </a:solidFill>
              </a:defRPr>
            </a:pPr>
            <a:r>
              <a:t>⬜ 规划中（Sprint 2，F03）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457200" y="4224528"/>
            <a:ext cx="2377440" cy="475488"/>
          </a:xfrm>
          <a:prstGeom prst="roundRect">
            <a:avLst/>
          </a:prstGeom>
          <a:solidFill>
            <a:srgbClr val="FAFBFD"/>
          </a:solidFill>
          <a:ln w="12700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566928" y="4315968"/>
            <a:ext cx="215798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D2A3A"/>
                </a:solidFill>
              </a:defRPr>
            </a:pPr>
            <a:r>
              <a:t>管理后台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2834640" y="4224528"/>
            <a:ext cx="1005840" cy="475488"/>
          </a:xfrm>
          <a:prstGeom prst="roundRect">
            <a:avLst/>
          </a:prstGeom>
          <a:solidFill>
            <a:srgbClr val="FAFBFD"/>
          </a:solidFill>
          <a:ln w="12700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2944368" y="4315968"/>
            <a:ext cx="78638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D2A3A"/>
                </a:solidFill>
              </a:defRPr>
            </a:pPr>
            <a:r>
              <a:t>第 8 页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3840480" y="4224528"/>
            <a:ext cx="7863840" cy="475488"/>
          </a:xfrm>
          <a:prstGeom prst="roundRect">
            <a:avLst/>
          </a:prstGeom>
          <a:solidFill>
            <a:srgbClr val="FAFBFD"/>
          </a:solidFill>
          <a:ln w="12700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3950208" y="4315968"/>
            <a:ext cx="764438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D2A3A"/>
                </a:solidFill>
              </a:defRPr>
            </a:pPr>
            <a:r>
              <a:t>⬜ 规划中（Sprint 7，F18）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457200" y="5029200"/>
            <a:ext cx="11274552" cy="1005840"/>
          </a:xfrm>
          <a:prstGeom prst="roundRect">
            <a:avLst/>
          </a:prstGeom>
          <a:solidFill>
            <a:srgbClr val="EEF2FF"/>
          </a:solidFill>
          <a:ln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09728"/>
          <a:lstStyle/>
          <a:p>
            <a:pPr algn="ctr">
              <a:defRPr sz="1200">
                <a:solidFill>
                  <a:srgbClr val="1D2A3A"/>
                </a:solidFill>
              </a:defRPr>
            </a:pPr>
            <a:r>
              <a:t>存储层变更：后端新增 kv_store 目录式键值存储层（PR #5）——namespace 映射 SQLite 表 kv_{ns}，题目数据存于 qdata namespace，接口文档 docs/kvstore.md；配套 18 断言单元测试（tests/kv/）已纳入 CI。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